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3" r:id="rId7"/>
    <p:sldId id="262" r:id="rId8"/>
    <p:sldId id="263" r:id="rId9"/>
    <p:sldId id="274" r:id="rId10"/>
    <p:sldId id="265" r:id="rId11"/>
    <p:sldId id="266" r:id="rId12"/>
    <p:sldId id="267" r:id="rId13"/>
    <p:sldId id="268" r:id="rId14"/>
    <p:sldId id="261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128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5850-614D-9B1F-09B7-E2A0CF89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832BE-B8E6-E7B6-2D87-A30BD887E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96DC5-794B-8530-54BD-982FC1BE6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43A85-5F9C-36C7-521F-3F7130936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44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C16DF-E9C7-1237-C0B4-77507505E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25E8E-92B9-AAE1-EA1E-12556C0DD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3574E-E8D1-FEBB-63E0-1BD2A4D9C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BFBF7-1AF6-C721-6680-CCB40C8F6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25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60120" y="6199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noProof="0" dirty="0">
                <a:solidFill>
                  <a:srgbClr val="AAB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1250" noProof="0" dirty="0"/>
          </a:p>
        </p:txBody>
      </p:sp>
      <p:sp>
        <p:nvSpPr>
          <p:cNvPr id="5" name="Text 3"/>
          <p:cNvSpPr/>
          <p:nvPr/>
        </p:nvSpPr>
        <p:spPr>
          <a:xfrm>
            <a:off x="960120" y="1664208"/>
            <a:ext cx="7315200" cy="281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PE" sz="6600" b="1" kern="0" spc="3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COMPUTACIONAL</a:t>
            </a:r>
            <a:endParaRPr lang="es-PE" sz="6600" noProof="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987552" y="4483320"/>
            <a:ext cx="1280160" cy="0"/>
          </a:xfrm>
          <a:prstGeom prst="line">
            <a:avLst/>
          </a:prstGeom>
          <a:noFill/>
          <a:ln w="28575">
            <a:solidFill>
              <a:srgbClr val="B8863B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8" name="Text 6"/>
          <p:cNvSpPr/>
          <p:nvPr/>
        </p:nvSpPr>
        <p:spPr>
          <a:xfrm>
            <a:off x="987552" y="4629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noProof="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Bimestre 3  ·  Introducción al curso</a:t>
            </a:r>
            <a:endParaRPr lang="es-PE" sz="1400" noProof="0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394586CD-7AF1-3919-E091-D99DC28DC9FE}"/>
              </a:ext>
            </a:extLst>
          </p:cNvPr>
          <p:cNvSpPr/>
          <p:nvPr/>
        </p:nvSpPr>
        <p:spPr>
          <a:xfrm>
            <a:off x="7784176" y="-2834640"/>
            <a:ext cx="5669280" cy="5669280"/>
          </a:xfrm>
          <a:prstGeom prst="ellipse">
            <a:avLst/>
          </a:prstGeom>
          <a:solidFill>
            <a:srgbClr val="2E4C7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16985C-9A6A-BAEC-4803-CEFDD19DF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038" y="228136"/>
            <a:ext cx="3043270" cy="1338418"/>
          </a:xfrm>
          <a:prstGeom prst="rect">
            <a:avLst/>
          </a:prstGeom>
        </p:spPr>
      </p:pic>
      <p:sp>
        <p:nvSpPr>
          <p:cNvPr id="14" name="Shape 1">
            <a:extLst>
              <a:ext uri="{FF2B5EF4-FFF2-40B4-BE49-F238E27FC236}">
                <a16:creationId xmlns:a16="http://schemas.microsoft.com/office/drawing/2014/main" id="{B2899B4C-711B-4561-60C7-E3B2BCD5AA58}"/>
              </a:ext>
            </a:extLst>
          </p:cNvPr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E4C7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21158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CURSO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211580" y="122529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3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s-PE" sz="3200" noProof="0" dirty="0"/>
          </a:p>
        </p:txBody>
      </p:sp>
      <p:sp>
        <p:nvSpPr>
          <p:cNvPr id="8" name="Text 6"/>
          <p:cNvSpPr/>
          <p:nvPr/>
        </p:nvSpPr>
        <p:spPr>
          <a:xfrm>
            <a:off x="1211580" y="2130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8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pensamiento e interpretación estadística — y darte las herramientas para lograrlo.</a:t>
            </a:r>
            <a:endParaRPr lang="es-PE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1211580" y="3227832"/>
            <a:ext cx="3063240" cy="2423160"/>
          </a:xfrm>
          <a:prstGeom prst="roundRect">
            <a:avLst>
              <a:gd name="adj" fmla="val 1887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8"/>
          <p:cNvSpPr/>
          <p:nvPr/>
        </p:nvSpPr>
        <p:spPr>
          <a:xfrm>
            <a:off x="1485900" y="34838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000" b="1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PE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1485900" y="40050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65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</a:t>
            </a:r>
            <a:endParaRPr lang="es-PE" sz="1650" noProof="0" dirty="0"/>
          </a:p>
        </p:txBody>
      </p:sp>
      <p:sp>
        <p:nvSpPr>
          <p:cNvPr id="12" name="Text 10"/>
          <p:cNvSpPr/>
          <p:nvPr/>
        </p:nvSpPr>
        <p:spPr>
          <a:xfrm>
            <a:off x="1485900" y="4398264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2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 un dato antes de creerlo. Reconocer cuándo un promedio esconde más de lo que muestra.</a:t>
            </a:r>
            <a:endParaRPr lang="es-PE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4549140" y="3227832"/>
            <a:ext cx="3063240" cy="2423160"/>
          </a:xfrm>
          <a:prstGeom prst="roundRect">
            <a:avLst>
              <a:gd name="adj" fmla="val 1887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Text 12"/>
          <p:cNvSpPr/>
          <p:nvPr/>
        </p:nvSpPr>
        <p:spPr>
          <a:xfrm>
            <a:off x="4823460" y="34838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000" b="1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PE" sz="2000" noProof="0" dirty="0"/>
          </a:p>
        </p:txBody>
      </p:sp>
      <p:sp>
        <p:nvSpPr>
          <p:cNvPr id="15" name="Text 13"/>
          <p:cNvSpPr/>
          <p:nvPr/>
        </p:nvSpPr>
        <p:spPr>
          <a:xfrm>
            <a:off x="4823460" y="40050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65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endParaRPr lang="es-PE" sz="1650" noProof="0" dirty="0"/>
          </a:p>
        </p:txBody>
      </p:sp>
      <p:sp>
        <p:nvSpPr>
          <p:cNvPr id="16" name="Text 14"/>
          <p:cNvSpPr/>
          <p:nvPr/>
        </p:nvSpPr>
        <p:spPr>
          <a:xfrm>
            <a:off x="4823460" y="4398264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2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una tabla, un gráfico o un resultado y explicar honestamente qué dice — y qué no dice.</a:t>
            </a:r>
            <a:endParaRPr lang="es-PE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7886700" y="3227832"/>
            <a:ext cx="3063240" cy="2423160"/>
          </a:xfrm>
          <a:prstGeom prst="roundRect">
            <a:avLst>
              <a:gd name="adj" fmla="val 1887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8" name="Text 16"/>
          <p:cNvSpPr/>
          <p:nvPr/>
        </p:nvSpPr>
        <p:spPr>
          <a:xfrm>
            <a:off x="8161020" y="34838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000" b="1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PE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8161020" y="40050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65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s-PE" sz="1650" noProof="0" dirty="0"/>
          </a:p>
        </p:txBody>
      </p:sp>
      <p:sp>
        <p:nvSpPr>
          <p:cNvPr id="20" name="Text 18"/>
          <p:cNvSpPr/>
          <p:nvPr/>
        </p:nvSpPr>
        <p:spPr>
          <a:xfrm>
            <a:off x="8161020" y="4398264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2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Python y pandas como el instrumento profesional para trabajar con datos reales, a cualquier escala.</a:t>
            </a:r>
            <a:endParaRPr lang="es-PE" sz="1200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8845E50-B0AB-5268-4381-59EAB6650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188720" y="744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CURSO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05552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3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Python?</a:t>
            </a:r>
            <a:endParaRPr lang="es-PE" sz="3200" noProof="0" dirty="0"/>
          </a:p>
        </p:txBody>
      </p:sp>
      <p:sp>
        <p:nvSpPr>
          <p:cNvPr id="8" name="Text 6"/>
          <p:cNvSpPr/>
          <p:nvPr/>
        </p:nvSpPr>
        <p:spPr>
          <a:xfrm>
            <a:off x="1188720" y="1915064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s-PE" sz="15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 estándar de la industria no es Excel. Es el lenguaje que usan analistas, ingenieros de datos y científicos de datos en el mundo real.</a:t>
            </a:r>
            <a:endParaRPr lang="es-PE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1188720" y="33323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s-PE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1188720" y="36249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s-PE" sz="11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millones de observaciones sin que el programa se caiga — algo que una hoja de cálculo no puede sostener.</a:t>
            </a:r>
            <a:endParaRPr lang="es-PE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1188720" y="4173632"/>
            <a:ext cx="5303520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Text 10"/>
          <p:cNvSpPr/>
          <p:nvPr/>
        </p:nvSpPr>
        <p:spPr>
          <a:xfrm>
            <a:off x="1188720" y="4265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industria</a:t>
            </a:r>
            <a:endParaRPr lang="es-PE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1188720" y="4557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s-PE" sz="11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herramienta que usan empresas, bancos y centros de investigación para tomar decisiones con datos.</a:t>
            </a:r>
            <a:endParaRPr lang="es-PE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1188720" y="5106320"/>
            <a:ext cx="5303520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5" name="Text 13"/>
          <p:cNvSpPr/>
          <p:nvPr/>
        </p:nvSpPr>
        <p:spPr>
          <a:xfrm>
            <a:off x="1188720" y="5197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s-PE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1188720" y="54903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s-PE" sz="11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análisis en código se puede repetir, auditar y corregir — a diferencia de clics que nadie documentó.</a:t>
            </a:r>
            <a:endParaRPr lang="es-PE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1188720" y="6039008"/>
            <a:ext cx="5303520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8" name="Shape 16"/>
          <p:cNvSpPr/>
          <p:nvPr/>
        </p:nvSpPr>
        <p:spPr>
          <a:xfrm>
            <a:off x="7863840" y="1915064"/>
            <a:ext cx="3154680" cy="3794760"/>
          </a:xfrm>
          <a:prstGeom prst="roundRect">
            <a:avLst>
              <a:gd name="adj" fmla="val 14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PE" noProof="0" dirty="0"/>
          </a:p>
        </p:txBody>
      </p:sp>
      <p:sp>
        <p:nvSpPr>
          <p:cNvPr id="19" name="Text 17"/>
          <p:cNvSpPr/>
          <p:nvPr/>
        </p:nvSpPr>
        <p:spPr>
          <a:xfrm>
            <a:off x="8138160" y="232654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1,000,000+</a:t>
            </a:r>
            <a:endParaRPr lang="es-PE" sz="3200" noProof="0" dirty="0"/>
          </a:p>
        </p:txBody>
      </p:sp>
      <p:sp>
        <p:nvSpPr>
          <p:cNvPr id="20" name="Text 18"/>
          <p:cNvSpPr/>
          <p:nvPr/>
        </p:nvSpPr>
        <p:spPr>
          <a:xfrm>
            <a:off x="8138160" y="29666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datos</a:t>
            </a:r>
            <a:endParaRPr lang="es-PE" sz="1250" noProof="0" dirty="0"/>
          </a:p>
        </p:txBody>
      </p:sp>
      <p:sp>
        <p:nvSpPr>
          <p:cNvPr id="21" name="Shape 19"/>
          <p:cNvSpPr/>
          <p:nvPr/>
        </p:nvSpPr>
        <p:spPr>
          <a:xfrm>
            <a:off x="8138160" y="3515264"/>
            <a:ext cx="260604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2" name="Text 20"/>
          <p:cNvSpPr/>
          <p:nvPr/>
        </p:nvSpPr>
        <p:spPr>
          <a:xfrm>
            <a:off x="8138160" y="3698144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s-PE" sz="1200" noProof="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se vuelve lento o falla. Python + pandas lo procesan en segundos.</a:t>
            </a:r>
            <a:endParaRPr lang="es-PE" sz="1200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19678B0-C8F2-A316-196C-88C0B8DA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18872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CURSO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20700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3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pandas?</a:t>
            </a:r>
            <a:endParaRPr lang="es-PE" sz="3200" noProof="0" dirty="0"/>
          </a:p>
        </p:txBody>
      </p:sp>
      <p:sp>
        <p:nvSpPr>
          <p:cNvPr id="8" name="Text 6"/>
          <p:cNvSpPr/>
          <p:nvPr/>
        </p:nvSpPr>
        <p:spPr>
          <a:xfrm>
            <a:off x="1188720" y="20665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6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librería ya construida para hacer análisis de datos en Python.</a:t>
            </a:r>
            <a:endParaRPr lang="es-PE" sz="1600" noProof="0" dirty="0"/>
          </a:p>
        </p:txBody>
      </p:sp>
      <p:sp>
        <p:nvSpPr>
          <p:cNvPr id="9" name="Shape 7"/>
          <p:cNvSpPr/>
          <p:nvPr/>
        </p:nvSpPr>
        <p:spPr>
          <a:xfrm>
            <a:off x="1188720" y="2752344"/>
            <a:ext cx="6400800" cy="2286000"/>
          </a:xfrm>
          <a:prstGeom prst="roundRect">
            <a:avLst>
              <a:gd name="adj" fmla="val 1600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8"/>
          <p:cNvSpPr/>
          <p:nvPr/>
        </p:nvSpPr>
        <p:spPr>
          <a:xfrm>
            <a:off x="1325880" y="2825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departamento</a:t>
            </a:r>
            <a:endParaRPr lang="es-PE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4069080" y="28254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noProof="0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poblacion</a:t>
            </a:r>
            <a:endParaRPr lang="es-PE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6080760" y="2825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año</a:t>
            </a:r>
            <a:endParaRPr lang="es-PE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1188720" y="3209544"/>
            <a:ext cx="6400800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Text 12"/>
          <p:cNvSpPr/>
          <p:nvPr/>
        </p:nvSpPr>
        <p:spPr>
          <a:xfrm>
            <a:off x="1325880" y="3264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Lima</a:t>
            </a:r>
            <a:endParaRPr lang="es-PE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4069080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9485405</a:t>
            </a:r>
            <a:endParaRPr lang="es-PE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6080760" y="3264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s-PE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1325880" y="3721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Cusco</a:t>
            </a:r>
            <a:endParaRPr lang="es-PE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4069080" y="3721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1205527</a:t>
            </a:r>
            <a:endParaRPr lang="es-PE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6080760" y="3721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s-PE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1325880" y="4178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Madre de Dios</a:t>
            </a:r>
            <a:endParaRPr lang="es-PE" sz="1200" noProof="0" dirty="0"/>
          </a:p>
        </p:txBody>
      </p:sp>
      <p:sp>
        <p:nvSpPr>
          <p:cNvPr id="21" name="Text 19"/>
          <p:cNvSpPr/>
          <p:nvPr/>
        </p:nvSpPr>
        <p:spPr>
          <a:xfrm>
            <a:off x="4069080" y="4178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141070</a:t>
            </a:r>
            <a:endParaRPr lang="es-PE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6080760" y="4178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s-PE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1325880" y="4636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s-PE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4069080" y="4636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s-PE" sz="1200" noProof="0" dirty="0"/>
          </a:p>
        </p:txBody>
      </p:sp>
      <p:sp>
        <p:nvSpPr>
          <p:cNvPr id="25" name="Text 23"/>
          <p:cNvSpPr/>
          <p:nvPr/>
        </p:nvSpPr>
        <p:spPr>
          <a:xfrm>
            <a:off x="6080760" y="46360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s-PE" sz="1200" noProof="0" dirty="0"/>
          </a:p>
        </p:txBody>
      </p:sp>
      <p:sp>
        <p:nvSpPr>
          <p:cNvPr id="26" name="Text 24"/>
          <p:cNvSpPr/>
          <p:nvPr/>
        </p:nvSpPr>
        <p:spPr>
          <a:xfrm>
            <a:off x="8283083" y="19293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noProof="0" dirty="0" err="1">
                <a:solidFill>
                  <a:srgbClr val="B88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s-PE" sz="1250" b="1" noProof="0" dirty="0">
                <a:solidFill>
                  <a:srgbClr val="B88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as </a:t>
            </a:r>
            <a:r>
              <a:rPr lang="es-PE" sz="1250" b="1" noProof="0" dirty="0" err="1">
                <a:solidFill>
                  <a:srgbClr val="B88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endParaRPr lang="es-PE" sz="1250" noProof="0" dirty="0"/>
          </a:p>
        </p:txBody>
      </p:sp>
      <p:sp>
        <p:nvSpPr>
          <p:cNvPr id="27" name="Text 25"/>
          <p:cNvSpPr/>
          <p:nvPr/>
        </p:nvSpPr>
        <p:spPr>
          <a:xfrm>
            <a:off x="8283083" y="223113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PE" sz="11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importa — una línea, y tienes acceso a todo.</a:t>
            </a:r>
            <a:endParaRPr lang="es-PE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8283083" y="29809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noProof="0" dirty="0">
                <a:solidFill>
                  <a:srgbClr val="B88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.head() / .describe()</a:t>
            </a:r>
            <a:endParaRPr lang="es-PE" sz="1250" noProof="0" dirty="0"/>
          </a:p>
        </p:txBody>
      </p:sp>
      <p:sp>
        <p:nvSpPr>
          <p:cNvPr id="29" name="Text 27"/>
          <p:cNvSpPr/>
          <p:nvPr/>
        </p:nvSpPr>
        <p:spPr>
          <a:xfrm>
            <a:off x="8283083" y="328269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PE" sz="11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para “ver” y “resumir” un </a:t>
            </a:r>
            <a:r>
              <a:rPr lang="es-PE" sz="1100" noProof="0" dirty="0" err="1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PE" sz="11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entero al instante.</a:t>
            </a:r>
            <a:endParaRPr lang="es-PE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8283083" y="40325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noProof="0" dirty="0" err="1">
                <a:solidFill>
                  <a:srgbClr val="B88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endParaRPr lang="es-PE" sz="1250" noProof="0" dirty="0"/>
          </a:p>
        </p:txBody>
      </p:sp>
      <p:sp>
        <p:nvSpPr>
          <p:cNvPr id="31" name="Text 29"/>
          <p:cNvSpPr/>
          <p:nvPr/>
        </p:nvSpPr>
        <p:spPr>
          <a:xfrm>
            <a:off x="8283083" y="433425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PE" sz="11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— filas de observaciones, columnas de variables — es la unidad base de todo el curso.</a:t>
            </a:r>
            <a:endParaRPr lang="es-PE" sz="1100" noProof="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12E4A68-F9FD-0F58-DE14-C5EE5B8DE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233577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CURSO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233577" y="99669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3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las 8 semanas</a:t>
            </a:r>
            <a:endParaRPr lang="es-PE" sz="3200" noProof="0" dirty="0"/>
          </a:p>
        </p:txBody>
      </p:sp>
      <p:sp>
        <p:nvSpPr>
          <p:cNvPr id="8" name="Text 6"/>
          <p:cNvSpPr/>
          <p:nvPr/>
        </p:nvSpPr>
        <p:spPr>
          <a:xfrm>
            <a:off x="1264920" y="2344745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i="1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estamos aquí</a:t>
            </a:r>
            <a:endParaRPr lang="es-PE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1188720" y="3429000"/>
            <a:ext cx="9692640" cy="0"/>
          </a:xfrm>
          <a:prstGeom prst="line">
            <a:avLst/>
          </a:prstGeom>
          <a:noFill/>
          <a:ln w="254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Shape 8"/>
          <p:cNvSpPr/>
          <p:nvPr/>
        </p:nvSpPr>
        <p:spPr>
          <a:xfrm>
            <a:off x="1859280" y="3291840"/>
            <a:ext cx="274320" cy="274320"/>
          </a:xfrm>
          <a:prstGeom prst="ellipse">
            <a:avLst/>
          </a:prstGeom>
          <a:solidFill>
            <a:srgbClr val="B8863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1" name="Text 9"/>
          <p:cNvSpPr/>
          <p:nvPr/>
        </p:nvSpPr>
        <p:spPr>
          <a:xfrm>
            <a:off x="1219200" y="2770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100" b="1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</a:t>
            </a:r>
            <a:endParaRPr lang="es-PE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1219200" y="3703320"/>
            <a:ext cx="1554480" cy="9144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3" name="Text 11"/>
          <p:cNvSpPr/>
          <p:nvPr/>
        </p:nvSpPr>
        <p:spPr>
          <a:xfrm>
            <a:off x="1264920" y="37764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 err="1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</a:t>
            </a: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s-PE" sz="1150" noProof="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s-PE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3474720" y="3291840"/>
            <a:ext cx="274320" cy="2743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5" name="Text 13"/>
          <p:cNvSpPr/>
          <p:nvPr/>
        </p:nvSpPr>
        <p:spPr>
          <a:xfrm>
            <a:off x="2834640" y="2770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3–4</a:t>
            </a:r>
            <a:endParaRPr lang="es-PE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2834640" y="3703320"/>
            <a:ext cx="1554480" cy="9144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7" name="Text 15"/>
          <p:cNvSpPr/>
          <p:nvPr/>
        </p:nvSpPr>
        <p:spPr>
          <a:xfrm>
            <a:off x="2880360" y="37764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s-PE" sz="1150" noProof="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causalidad</a:t>
            </a:r>
            <a:endParaRPr lang="es-PE" sz="1150" noProof="0" dirty="0"/>
          </a:p>
        </p:txBody>
      </p:sp>
      <p:sp>
        <p:nvSpPr>
          <p:cNvPr id="18" name="Shape 16"/>
          <p:cNvSpPr/>
          <p:nvPr/>
        </p:nvSpPr>
        <p:spPr>
          <a:xfrm>
            <a:off x="5090160" y="3291840"/>
            <a:ext cx="274320" cy="2743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9" name="Text 17"/>
          <p:cNvSpPr/>
          <p:nvPr/>
        </p:nvSpPr>
        <p:spPr>
          <a:xfrm>
            <a:off x="4450080" y="2770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s-PE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4450080" y="3703320"/>
            <a:ext cx="1554480" cy="9144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1" name="Text 19"/>
          <p:cNvSpPr/>
          <p:nvPr/>
        </p:nvSpPr>
        <p:spPr>
          <a:xfrm>
            <a:off x="4495800" y="37764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</a:t>
            </a:r>
            <a:endParaRPr lang="es-PE" sz="1150" noProof="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s-PE" sz="1150" noProof="0" dirty="0"/>
          </a:p>
        </p:txBody>
      </p:sp>
      <p:sp>
        <p:nvSpPr>
          <p:cNvPr id="22" name="Shape 20"/>
          <p:cNvSpPr/>
          <p:nvPr/>
        </p:nvSpPr>
        <p:spPr>
          <a:xfrm>
            <a:off x="6705600" y="3291840"/>
            <a:ext cx="274320" cy="2743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3" name="Text 21"/>
          <p:cNvSpPr/>
          <p:nvPr/>
        </p:nvSpPr>
        <p:spPr>
          <a:xfrm>
            <a:off x="6065520" y="2770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s-PE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6065520" y="3703320"/>
            <a:ext cx="1554480" cy="9144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5" name="Text 23"/>
          <p:cNvSpPr/>
          <p:nvPr/>
        </p:nvSpPr>
        <p:spPr>
          <a:xfrm>
            <a:off x="6111240" y="37764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s-PE" sz="1150" noProof="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</a:t>
            </a:r>
            <a:endParaRPr lang="es-PE" sz="1150" noProof="0" dirty="0"/>
          </a:p>
        </p:txBody>
      </p:sp>
      <p:sp>
        <p:nvSpPr>
          <p:cNvPr id="26" name="Shape 24"/>
          <p:cNvSpPr/>
          <p:nvPr/>
        </p:nvSpPr>
        <p:spPr>
          <a:xfrm>
            <a:off x="8321040" y="3291840"/>
            <a:ext cx="274320" cy="2743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7" name="Text 25"/>
          <p:cNvSpPr/>
          <p:nvPr/>
        </p:nvSpPr>
        <p:spPr>
          <a:xfrm>
            <a:off x="7680960" y="2770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</a:t>
            </a:r>
            <a:endParaRPr lang="es-PE" sz="1100" noProof="0" dirty="0"/>
          </a:p>
        </p:txBody>
      </p:sp>
      <p:sp>
        <p:nvSpPr>
          <p:cNvPr id="28" name="Shape 26"/>
          <p:cNvSpPr/>
          <p:nvPr/>
        </p:nvSpPr>
        <p:spPr>
          <a:xfrm>
            <a:off x="7680960" y="3703320"/>
            <a:ext cx="1554480" cy="9144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9" name="Text 27"/>
          <p:cNvSpPr/>
          <p:nvPr/>
        </p:nvSpPr>
        <p:spPr>
          <a:xfrm>
            <a:off x="7726680" y="37764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</a:t>
            </a:r>
            <a:r>
              <a:rPr lang="es-PE" sz="1150" b="1" noProof="0" dirty="0" err="1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</a:t>
            </a:r>
            <a:endParaRPr lang="es-PE" sz="1150" noProof="0" dirty="0"/>
          </a:p>
        </p:txBody>
      </p:sp>
      <p:sp>
        <p:nvSpPr>
          <p:cNvPr id="30" name="Shape 28"/>
          <p:cNvSpPr/>
          <p:nvPr/>
        </p:nvSpPr>
        <p:spPr>
          <a:xfrm>
            <a:off x="9936480" y="3291840"/>
            <a:ext cx="274320" cy="2743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1" name="Text 29"/>
          <p:cNvSpPr/>
          <p:nvPr/>
        </p:nvSpPr>
        <p:spPr>
          <a:xfrm>
            <a:off x="9296400" y="2770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</a:t>
            </a:r>
            <a:endParaRPr lang="es-PE" sz="1100" noProof="0" dirty="0"/>
          </a:p>
        </p:txBody>
      </p:sp>
      <p:sp>
        <p:nvSpPr>
          <p:cNvPr id="32" name="Shape 30"/>
          <p:cNvSpPr/>
          <p:nvPr/>
        </p:nvSpPr>
        <p:spPr>
          <a:xfrm>
            <a:off x="9296400" y="3703320"/>
            <a:ext cx="1554480" cy="9144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3" name="Text 31"/>
          <p:cNvSpPr/>
          <p:nvPr/>
        </p:nvSpPr>
        <p:spPr>
          <a:xfrm>
            <a:off x="9342120" y="37764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</a:t>
            </a:r>
            <a:endParaRPr lang="es-PE" sz="1150" noProof="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s-PE" sz="1150" b="1" noProof="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s-PE" sz="1150" noProof="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9478883-5DFC-6E85-DD78-B0ECCD69A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68A2D2-A6A6-6A7E-6395-622BB61B4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F049DD9-676C-8B9B-58DE-A879C023F044}"/>
              </a:ext>
            </a:extLst>
          </p:cNvPr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C1D613-5C41-E273-20F1-58B245CD2F1B}"/>
              </a:ext>
            </a:extLst>
          </p:cNvPr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6E1EBE-365C-E7D8-D06C-0A875939AF9C}"/>
              </a:ext>
            </a:extLst>
          </p:cNvPr>
          <p:cNvSpPr/>
          <p:nvPr/>
        </p:nvSpPr>
        <p:spPr>
          <a:xfrm>
            <a:off x="118872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kern="0" spc="30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s-PE" sz="14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60A982-C29A-C601-7C05-CDB86299464F}"/>
              </a:ext>
            </a:extLst>
          </p:cNvPr>
          <p:cNvSpPr/>
          <p:nvPr/>
        </p:nvSpPr>
        <p:spPr>
          <a:xfrm>
            <a:off x="1188720" y="3090672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PE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Importancia de la Interpretación </a:t>
            </a:r>
            <a:endParaRPr lang="es-PE" sz="4200" noProof="0" dirty="0">
              <a:solidFill>
                <a:schemeClr val="bg1"/>
              </a:solidFill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4A23C48-EF5A-1672-A7A8-97E80854E1EA}"/>
              </a:ext>
            </a:extLst>
          </p:cNvPr>
          <p:cNvSpPr/>
          <p:nvPr/>
        </p:nvSpPr>
        <p:spPr>
          <a:xfrm>
            <a:off x="7784176" y="-2834640"/>
            <a:ext cx="5669280" cy="5669280"/>
          </a:xfrm>
          <a:prstGeom prst="ellipse">
            <a:avLst/>
          </a:prstGeom>
          <a:solidFill>
            <a:srgbClr val="2E4C7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D1199623-A0EB-C878-66A6-C9A560E8B5E6}"/>
              </a:ext>
            </a:extLst>
          </p:cNvPr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E4C7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4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18872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17957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titulares. Los dos hablan de lo mismo.</a:t>
            </a:r>
            <a:endParaRPr lang="es-PE" sz="2800" noProof="0" dirty="0"/>
          </a:p>
        </p:txBody>
      </p:sp>
      <p:sp>
        <p:nvSpPr>
          <p:cNvPr id="8" name="Shape 6"/>
          <p:cNvSpPr/>
          <p:nvPr/>
        </p:nvSpPr>
        <p:spPr>
          <a:xfrm>
            <a:off x="1188720" y="2267712"/>
            <a:ext cx="4480560" cy="2286000"/>
          </a:xfrm>
          <a:prstGeom prst="roundRect">
            <a:avLst>
              <a:gd name="adj" fmla="val 2000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9" name="Text 7"/>
          <p:cNvSpPr/>
          <p:nvPr/>
        </p:nvSpPr>
        <p:spPr>
          <a:xfrm>
            <a:off x="1508760" y="2523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kern="0" spc="20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A</a:t>
            </a:r>
            <a:endParaRPr lang="es-PE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1508760" y="29260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s-PE" sz="16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departamento peruano promedio tiene 1.18 millones de habitantes”</a:t>
            </a:r>
            <a:endParaRPr lang="es-PE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6309360" y="2267712"/>
            <a:ext cx="4480560" cy="2286000"/>
          </a:xfrm>
          <a:prstGeom prst="roundRect">
            <a:avLst>
              <a:gd name="adj" fmla="val 2000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Text 10"/>
          <p:cNvSpPr/>
          <p:nvPr/>
        </p:nvSpPr>
        <p:spPr>
          <a:xfrm>
            <a:off x="6629400" y="2523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kern="0" spc="20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B</a:t>
            </a:r>
            <a:endParaRPr lang="es-PE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6629400" y="29260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s-PE" sz="16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departamento peruano típico tiene 0.85 millones de habitantes”</a:t>
            </a:r>
            <a:endParaRPr lang="es-PE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1188720" y="48280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i="1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números son correctos. Ambos salen exactamente de los mismos datos.</a:t>
            </a:r>
            <a:endParaRPr lang="es-PE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1188720" y="52578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9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le creerías?</a:t>
            </a:r>
            <a:endParaRPr lang="es-PE" sz="1900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F7EC20-734B-CD61-2621-5E0B88455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266358" y="88110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266358" y="119199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2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datos, dos preguntas distintas</a:t>
            </a:r>
            <a:endParaRPr lang="es-PE" sz="2400" noProof="0" dirty="0"/>
          </a:p>
        </p:txBody>
      </p:sp>
      <p:pic>
        <p:nvPicPr>
          <p:cNvPr id="8" name="Image 0" descr="/home/claude/est2_deck/charts/hook_population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58" y="1960094"/>
            <a:ext cx="7223760" cy="38587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78638" y="1960094"/>
            <a:ext cx="3566160" cy="3858768"/>
          </a:xfrm>
          <a:prstGeom prst="roundRect">
            <a:avLst>
              <a:gd name="adj" fmla="val 128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7"/>
          <p:cNvSpPr/>
          <p:nvPr/>
        </p:nvSpPr>
        <p:spPr>
          <a:xfrm>
            <a:off x="8307238" y="214297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PE" sz="11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por departamento del Perú (Censo INEI, 2017) — 25 unidades: 24 departamentos + Callao</a:t>
            </a:r>
            <a:endParaRPr lang="es-PE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8307238" y="2938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Lima: 9.49 millones de hab.</a:t>
            </a:r>
            <a:endParaRPr lang="es-PE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8307238" y="319453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PE" sz="10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10 veces la mediana — y jala la media hacia arriba.</a:t>
            </a:r>
            <a:endParaRPr lang="es-PE" sz="1050" noProof="0" dirty="0"/>
          </a:p>
        </p:txBody>
      </p:sp>
      <p:sp>
        <p:nvSpPr>
          <p:cNvPr id="13" name="Shape 10"/>
          <p:cNvSpPr/>
          <p:nvPr/>
        </p:nvSpPr>
        <p:spPr>
          <a:xfrm>
            <a:off x="8307238" y="3679166"/>
            <a:ext cx="3108960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Text 11"/>
          <p:cNvSpPr/>
          <p:nvPr/>
        </p:nvSpPr>
        <p:spPr>
          <a:xfrm>
            <a:off x="8307238" y="382547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PE" sz="10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(1.18 M) responde: “¿cuánta gente habría por departamento si la población total se repartiera en partes iguales?”</a:t>
            </a:r>
            <a:endParaRPr lang="es-PE" sz="1050" noProof="0" dirty="0"/>
          </a:p>
        </p:txBody>
      </p:sp>
      <p:sp>
        <p:nvSpPr>
          <p:cNvPr id="15" name="Text 12"/>
          <p:cNvSpPr/>
          <p:nvPr/>
        </p:nvSpPr>
        <p:spPr>
          <a:xfrm>
            <a:off x="8307238" y="477644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PE" sz="10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mediana (0.85 M) responde: “¿cuántos habitantes tiene el departamento típico, el de en medio?”</a:t>
            </a:r>
            <a:endParaRPr lang="es-PE" sz="1050" noProof="0" dirty="0"/>
          </a:p>
        </p:txBody>
      </p:sp>
      <p:sp>
        <p:nvSpPr>
          <p:cNvPr id="16" name="Text 13"/>
          <p:cNvSpPr/>
          <p:nvPr/>
        </p:nvSpPr>
        <p:spPr>
          <a:xfrm>
            <a:off x="580558" y="591030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i="1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INEI — Censos Nacionales 2017: XII de Población y VII de Vivienda</a:t>
            </a:r>
            <a:endParaRPr lang="es-PE" sz="850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9DB668-5696-B018-49EA-1B2A5A565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1CC3F-DECB-133A-0B63-4584284A6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9A67063-59D2-5E01-7196-6F0C21A6CB18}"/>
              </a:ext>
            </a:extLst>
          </p:cNvPr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7D688D7-991A-3277-B588-987600BEA461}"/>
              </a:ext>
            </a:extLst>
          </p:cNvPr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543DA0-9788-4D4D-2967-7F64A8361EF0}"/>
              </a:ext>
            </a:extLst>
          </p:cNvPr>
          <p:cNvSpPr/>
          <p:nvPr/>
        </p:nvSpPr>
        <p:spPr>
          <a:xfrm>
            <a:off x="118872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kern="0" spc="30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s-PE" sz="14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818CE4F-AECD-3502-590E-8CD6B6634D33}"/>
              </a:ext>
            </a:extLst>
          </p:cNvPr>
          <p:cNvSpPr/>
          <p:nvPr/>
        </p:nvSpPr>
        <p:spPr>
          <a:xfrm>
            <a:off x="1188720" y="3090672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PE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Estadística</a:t>
            </a:r>
            <a:endParaRPr lang="es-PE" sz="4200" noProof="0" dirty="0">
              <a:solidFill>
                <a:schemeClr val="bg1"/>
              </a:solidFill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97867C12-F4E5-64AA-1893-02B6485F9562}"/>
              </a:ext>
            </a:extLst>
          </p:cNvPr>
          <p:cNvSpPr/>
          <p:nvPr/>
        </p:nvSpPr>
        <p:spPr>
          <a:xfrm>
            <a:off x="7784176" y="-2834640"/>
            <a:ext cx="5669280" cy="5669280"/>
          </a:xfrm>
          <a:prstGeom prst="ellipse">
            <a:avLst/>
          </a:prstGeom>
          <a:solidFill>
            <a:srgbClr val="2E4C7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5A5EB9C6-70A5-AFBD-BFA3-E09ACEF86406}"/>
              </a:ext>
            </a:extLst>
          </p:cNvPr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E4C7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43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188720" y="8183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TEORÍA DESBLOQUEADA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12928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3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Estadística?</a:t>
            </a:r>
            <a:endParaRPr lang="es-PE" sz="3000" noProof="0" dirty="0"/>
          </a:p>
        </p:txBody>
      </p:sp>
      <p:sp>
        <p:nvSpPr>
          <p:cNvPr id="8" name="Shape 6"/>
          <p:cNvSpPr/>
          <p:nvPr/>
        </p:nvSpPr>
        <p:spPr>
          <a:xfrm>
            <a:off x="1188720" y="1988820"/>
            <a:ext cx="9692640" cy="960120"/>
          </a:xfrm>
          <a:prstGeom prst="roundRect">
            <a:avLst>
              <a:gd name="adj" fmla="val 4762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9" name="Text 7"/>
          <p:cNvSpPr/>
          <p:nvPr/>
        </p:nvSpPr>
        <p:spPr>
          <a:xfrm>
            <a:off x="1508760" y="1988820"/>
            <a:ext cx="9052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550" i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ciencia de recolectar, organizar, analizar e interpretar datos para tomar decisiones informadas y entender el mundo.</a:t>
            </a:r>
            <a:endParaRPr lang="es-PE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1188720" y="31318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ejercicio académico abstracto — separa “la opinión de alguien” de “lo que realmente muestra la evidencia”.</a:t>
            </a:r>
            <a:endParaRPr lang="es-PE" sz="1250" noProof="0" dirty="0"/>
          </a:p>
        </p:txBody>
      </p:sp>
      <p:sp>
        <p:nvSpPr>
          <p:cNvPr id="11" name="Shape 9"/>
          <p:cNvSpPr/>
          <p:nvPr/>
        </p:nvSpPr>
        <p:spPr>
          <a:xfrm>
            <a:off x="1188720" y="3634740"/>
            <a:ext cx="1792224" cy="2057400"/>
          </a:xfrm>
          <a:prstGeom prst="roundRect">
            <a:avLst>
              <a:gd name="adj" fmla="val 255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Shape 10"/>
          <p:cNvSpPr/>
          <p:nvPr/>
        </p:nvSpPr>
        <p:spPr>
          <a:xfrm>
            <a:off x="1389888" y="3909060"/>
            <a:ext cx="320040" cy="0"/>
          </a:xfrm>
          <a:prstGeom prst="line">
            <a:avLst/>
          </a:prstGeom>
          <a:noFill/>
          <a:ln w="25400">
            <a:solidFill>
              <a:srgbClr val="B8863B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3" name="Text 11"/>
          <p:cNvSpPr/>
          <p:nvPr/>
        </p:nvSpPr>
        <p:spPr>
          <a:xfrm>
            <a:off x="1371600" y="40187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Periodismo</a:t>
            </a:r>
            <a:endParaRPr lang="es-PE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1371600" y="43662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0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si un titular sobre “la ciudad más peligrosa” dice lo que parece decir.</a:t>
            </a:r>
            <a:endParaRPr lang="es-PE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3072384" y="3634740"/>
            <a:ext cx="1792224" cy="2057400"/>
          </a:xfrm>
          <a:prstGeom prst="roundRect">
            <a:avLst>
              <a:gd name="adj" fmla="val 255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6" name="Shape 14"/>
          <p:cNvSpPr/>
          <p:nvPr/>
        </p:nvSpPr>
        <p:spPr>
          <a:xfrm>
            <a:off x="3273552" y="3909060"/>
            <a:ext cx="320040" cy="0"/>
          </a:xfrm>
          <a:prstGeom prst="line">
            <a:avLst/>
          </a:prstGeom>
          <a:noFill/>
          <a:ln w="25400">
            <a:solidFill>
              <a:srgbClr val="B8863B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7" name="Text 15"/>
          <p:cNvSpPr/>
          <p:nvPr/>
        </p:nvSpPr>
        <p:spPr>
          <a:xfrm>
            <a:off x="3255264" y="40187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s-PE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3255264" y="43662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0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si un tratamiento funciona mejor que otro.</a:t>
            </a:r>
            <a:endParaRPr lang="es-PE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4956048" y="3634740"/>
            <a:ext cx="1792224" cy="2057400"/>
          </a:xfrm>
          <a:prstGeom prst="roundRect">
            <a:avLst>
              <a:gd name="adj" fmla="val 255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0" name="Shape 18"/>
          <p:cNvSpPr/>
          <p:nvPr/>
        </p:nvSpPr>
        <p:spPr>
          <a:xfrm>
            <a:off x="5157216" y="3909060"/>
            <a:ext cx="320040" cy="0"/>
          </a:xfrm>
          <a:prstGeom prst="line">
            <a:avLst/>
          </a:prstGeom>
          <a:noFill/>
          <a:ln w="25400">
            <a:solidFill>
              <a:srgbClr val="B8863B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1" name="Text 19"/>
          <p:cNvSpPr/>
          <p:nvPr/>
        </p:nvSpPr>
        <p:spPr>
          <a:xfrm>
            <a:off x="5138928" y="40187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Deporte</a:t>
            </a:r>
            <a:endParaRPr lang="es-PE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5138928" y="43662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0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Fichar según el rendimiento real de un jugador, no su fama.</a:t>
            </a:r>
            <a:endParaRPr lang="es-PE" sz="1000" noProof="0" dirty="0"/>
          </a:p>
        </p:txBody>
      </p:sp>
      <p:sp>
        <p:nvSpPr>
          <p:cNvPr id="23" name="Shape 21"/>
          <p:cNvSpPr/>
          <p:nvPr/>
        </p:nvSpPr>
        <p:spPr>
          <a:xfrm>
            <a:off x="6839712" y="3634740"/>
            <a:ext cx="1792224" cy="2057400"/>
          </a:xfrm>
          <a:prstGeom prst="roundRect">
            <a:avLst>
              <a:gd name="adj" fmla="val 255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4" name="Shape 22"/>
          <p:cNvSpPr/>
          <p:nvPr/>
        </p:nvSpPr>
        <p:spPr>
          <a:xfrm>
            <a:off x="7040880" y="3909060"/>
            <a:ext cx="320040" cy="0"/>
          </a:xfrm>
          <a:prstGeom prst="line">
            <a:avLst/>
          </a:prstGeom>
          <a:noFill/>
          <a:ln w="25400">
            <a:solidFill>
              <a:srgbClr val="B8863B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5" name="Text 23"/>
          <p:cNvSpPr/>
          <p:nvPr/>
        </p:nvSpPr>
        <p:spPr>
          <a:xfrm>
            <a:off x="7022592" y="40187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s-PE" sz="1300" noProof="0" dirty="0"/>
          </a:p>
        </p:txBody>
      </p:sp>
      <p:sp>
        <p:nvSpPr>
          <p:cNvPr id="26" name="Text 24"/>
          <p:cNvSpPr/>
          <p:nvPr/>
        </p:nvSpPr>
        <p:spPr>
          <a:xfrm>
            <a:off x="7022592" y="43662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0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recursos públicos según la necesidad real.</a:t>
            </a:r>
            <a:endParaRPr lang="es-PE" sz="1000" noProof="0" dirty="0"/>
          </a:p>
        </p:txBody>
      </p:sp>
      <p:sp>
        <p:nvSpPr>
          <p:cNvPr id="27" name="Shape 25"/>
          <p:cNvSpPr/>
          <p:nvPr/>
        </p:nvSpPr>
        <p:spPr>
          <a:xfrm>
            <a:off x="8723376" y="3634740"/>
            <a:ext cx="1792224" cy="2057400"/>
          </a:xfrm>
          <a:prstGeom prst="roundRect">
            <a:avLst>
              <a:gd name="adj" fmla="val 2551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8" name="Shape 26"/>
          <p:cNvSpPr/>
          <p:nvPr/>
        </p:nvSpPr>
        <p:spPr>
          <a:xfrm>
            <a:off x="8924544" y="3909060"/>
            <a:ext cx="320040" cy="0"/>
          </a:xfrm>
          <a:prstGeom prst="line">
            <a:avLst/>
          </a:prstGeom>
          <a:noFill/>
          <a:ln w="25400">
            <a:solidFill>
              <a:srgbClr val="B8863B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9" name="Text 27"/>
          <p:cNvSpPr/>
          <p:nvPr/>
        </p:nvSpPr>
        <p:spPr>
          <a:xfrm>
            <a:off x="8906256" y="40187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</a:t>
            </a:r>
            <a:endParaRPr lang="es-PE" sz="1300" noProof="0" dirty="0"/>
          </a:p>
        </p:txBody>
      </p:sp>
      <p:sp>
        <p:nvSpPr>
          <p:cNvPr id="30" name="Text 28"/>
          <p:cNvSpPr/>
          <p:nvPr/>
        </p:nvSpPr>
        <p:spPr>
          <a:xfrm>
            <a:off x="8906256" y="43662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0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qué producto funciona, para quién y por qué.</a:t>
            </a:r>
            <a:endParaRPr lang="es-PE" sz="1000" noProof="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D4BC652-48A5-8FB7-9295-2F193D5B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188720" y="848149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TEORÍA DESBLOQUEADA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159045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ramas de la estadística</a:t>
            </a:r>
            <a:endParaRPr lang="es-PE" sz="2800" noProof="0" dirty="0"/>
          </a:p>
        </p:txBody>
      </p:sp>
      <p:sp>
        <p:nvSpPr>
          <p:cNvPr id="8" name="Shape 6"/>
          <p:cNvSpPr/>
          <p:nvPr/>
        </p:nvSpPr>
        <p:spPr>
          <a:xfrm>
            <a:off x="1188720" y="2155741"/>
            <a:ext cx="9692640" cy="1042416"/>
          </a:xfrm>
          <a:prstGeom prst="roundRect">
            <a:avLst>
              <a:gd name="adj" fmla="val 4386"/>
            </a:avLst>
          </a:prstGeom>
          <a:solidFill>
            <a:srgbClr val="F6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9" name="Shape 7"/>
          <p:cNvSpPr/>
          <p:nvPr/>
        </p:nvSpPr>
        <p:spPr>
          <a:xfrm>
            <a:off x="1188720" y="2155741"/>
            <a:ext cx="54864" cy="1042416"/>
          </a:xfrm>
          <a:prstGeom prst="rect">
            <a:avLst/>
          </a:prstGeom>
          <a:solidFill>
            <a:srgbClr val="B8863B"/>
          </a:solidFill>
          <a:ln/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8"/>
          <p:cNvSpPr/>
          <p:nvPr/>
        </p:nvSpPr>
        <p:spPr>
          <a:xfrm>
            <a:off x="1600200" y="2283757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7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Descriptiva</a:t>
            </a:r>
            <a:endParaRPr lang="es-PE" sz="1700" noProof="0" dirty="0"/>
          </a:p>
        </p:txBody>
      </p:sp>
      <p:sp>
        <p:nvSpPr>
          <p:cNvPr id="11" name="Text 9"/>
          <p:cNvSpPr/>
          <p:nvPr/>
        </p:nvSpPr>
        <p:spPr>
          <a:xfrm>
            <a:off x="4206240" y="2283757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50" i="1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pasó?</a:t>
            </a:r>
            <a:endParaRPr lang="es-PE" sz="1350" noProof="0" dirty="0"/>
          </a:p>
        </p:txBody>
      </p:sp>
      <p:sp>
        <p:nvSpPr>
          <p:cNvPr id="12" name="Text 10"/>
          <p:cNvSpPr/>
          <p:nvPr/>
        </p:nvSpPr>
        <p:spPr>
          <a:xfrm>
            <a:off x="7589520" y="2283757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PE" sz="10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1–5 — el núcleo de este módulo</a:t>
            </a:r>
            <a:endParaRPr lang="es-PE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1188720" y="3362749"/>
            <a:ext cx="9692640" cy="1042416"/>
          </a:xfrm>
          <a:prstGeom prst="roundRect">
            <a:avLst>
              <a:gd name="adj" fmla="val 4386"/>
            </a:avLst>
          </a:prstGeom>
          <a:solidFill>
            <a:srgbClr val="F6F7F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Shape 12"/>
          <p:cNvSpPr/>
          <p:nvPr/>
        </p:nvSpPr>
        <p:spPr>
          <a:xfrm>
            <a:off x="1188720" y="3362749"/>
            <a:ext cx="54864" cy="1042416"/>
          </a:xfrm>
          <a:prstGeom prst="rect">
            <a:avLst/>
          </a:prstGeom>
          <a:solidFill>
            <a:srgbClr val="B8863B"/>
          </a:solidFill>
          <a:ln/>
        </p:spPr>
        <p:txBody>
          <a:bodyPr/>
          <a:lstStyle/>
          <a:p>
            <a:endParaRPr lang="es-PE" noProof="0" dirty="0"/>
          </a:p>
        </p:txBody>
      </p:sp>
      <p:sp>
        <p:nvSpPr>
          <p:cNvPr id="15" name="Text 13"/>
          <p:cNvSpPr/>
          <p:nvPr/>
        </p:nvSpPr>
        <p:spPr>
          <a:xfrm>
            <a:off x="1600200" y="3490765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7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Predictiva</a:t>
            </a:r>
            <a:endParaRPr lang="es-PE" sz="1700" noProof="0" dirty="0"/>
          </a:p>
        </p:txBody>
      </p:sp>
      <p:sp>
        <p:nvSpPr>
          <p:cNvPr id="16" name="Text 14"/>
          <p:cNvSpPr/>
          <p:nvPr/>
        </p:nvSpPr>
        <p:spPr>
          <a:xfrm>
            <a:off x="4206240" y="3490765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50" i="1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probable que pase?</a:t>
            </a:r>
            <a:endParaRPr lang="es-PE" sz="1350" noProof="0" dirty="0"/>
          </a:p>
        </p:txBody>
      </p:sp>
      <p:sp>
        <p:nvSpPr>
          <p:cNvPr id="17" name="Text 15"/>
          <p:cNvSpPr/>
          <p:nvPr/>
        </p:nvSpPr>
        <p:spPr>
          <a:xfrm>
            <a:off x="7589520" y="3490765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PE" sz="10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(regresión lineal)</a:t>
            </a:r>
            <a:endParaRPr lang="es-PE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1188720" y="4569757"/>
            <a:ext cx="9692640" cy="1042416"/>
          </a:xfrm>
          <a:prstGeom prst="roundRect">
            <a:avLst>
              <a:gd name="adj" fmla="val 4386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9" name="Shape 17"/>
          <p:cNvSpPr/>
          <p:nvPr/>
        </p:nvSpPr>
        <p:spPr>
          <a:xfrm>
            <a:off x="1188720" y="4569757"/>
            <a:ext cx="54864" cy="1042416"/>
          </a:xfrm>
          <a:prstGeom prst="rect">
            <a:avLst/>
          </a:prstGeom>
          <a:solidFill>
            <a:srgbClr val="8A8FA3"/>
          </a:solidFill>
          <a:ln/>
        </p:spPr>
        <p:txBody>
          <a:bodyPr/>
          <a:lstStyle/>
          <a:p>
            <a:endParaRPr lang="es-PE" noProof="0" dirty="0"/>
          </a:p>
        </p:txBody>
      </p:sp>
      <p:sp>
        <p:nvSpPr>
          <p:cNvPr id="20" name="Text 18"/>
          <p:cNvSpPr/>
          <p:nvPr/>
        </p:nvSpPr>
        <p:spPr>
          <a:xfrm>
            <a:off x="1600200" y="4697773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7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Prescriptiva</a:t>
            </a:r>
            <a:endParaRPr lang="es-PE" sz="1700" noProof="0" dirty="0"/>
          </a:p>
        </p:txBody>
      </p:sp>
      <p:sp>
        <p:nvSpPr>
          <p:cNvPr id="21" name="Text 19"/>
          <p:cNvSpPr/>
          <p:nvPr/>
        </p:nvSpPr>
        <p:spPr>
          <a:xfrm>
            <a:off x="4206240" y="4697773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50" i="1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deberíamos hacer al respecto?</a:t>
            </a:r>
            <a:endParaRPr lang="es-PE" sz="1350" noProof="0" dirty="0"/>
          </a:p>
        </p:txBody>
      </p:sp>
      <p:sp>
        <p:nvSpPr>
          <p:cNvPr id="22" name="Text 20"/>
          <p:cNvSpPr/>
          <p:nvPr/>
        </p:nvSpPr>
        <p:spPr>
          <a:xfrm>
            <a:off x="7589520" y="4697773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PE" sz="10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s-PE" sz="1050" noProof="0" dirty="0" err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</a:t>
            </a:r>
            <a:r>
              <a:rPr lang="es-PE" sz="10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curso no construye una herramienta prescriptiva</a:t>
            </a:r>
            <a:endParaRPr lang="es-PE" sz="1050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D35725-C232-FAEE-4929-867EC419E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18872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TEORÍA DESBLOQUEADA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19786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2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Media, Mediana y Moda</a:t>
            </a:r>
            <a:endParaRPr lang="es-PE" sz="2400" noProof="0" dirty="0"/>
          </a:p>
        </p:txBody>
      </p:sp>
      <p:sp>
        <p:nvSpPr>
          <p:cNvPr id="8" name="Shape 6"/>
          <p:cNvSpPr/>
          <p:nvPr/>
        </p:nvSpPr>
        <p:spPr>
          <a:xfrm>
            <a:off x="1188720" y="21488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9" name="Shape 7"/>
          <p:cNvSpPr/>
          <p:nvPr/>
        </p:nvSpPr>
        <p:spPr>
          <a:xfrm>
            <a:off x="1417320" y="2441448"/>
            <a:ext cx="320040" cy="0"/>
          </a:xfrm>
          <a:prstGeom prst="line">
            <a:avLst/>
          </a:prstGeom>
          <a:noFill/>
          <a:ln w="25400">
            <a:solidFill>
              <a:srgbClr val="B8863B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8"/>
          <p:cNvSpPr/>
          <p:nvPr/>
        </p:nvSpPr>
        <p:spPr>
          <a:xfrm>
            <a:off x="1417320" y="25511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7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s-PE" sz="1700" noProof="0" dirty="0"/>
          </a:p>
        </p:txBody>
      </p:sp>
      <p:sp>
        <p:nvSpPr>
          <p:cNvPr id="11" name="Text 9"/>
          <p:cNvSpPr/>
          <p:nvPr/>
        </p:nvSpPr>
        <p:spPr>
          <a:xfrm>
            <a:off x="1417320" y="293522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1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de todos los valores dividida entre la cantidad de valores. Sensible a valores extremos — uno solo puede “jalar” la media.</a:t>
            </a:r>
            <a:endParaRPr lang="es-PE" sz="1150" noProof="0" dirty="0"/>
          </a:p>
        </p:txBody>
      </p:sp>
      <p:sp>
        <p:nvSpPr>
          <p:cNvPr id="12" name="Shape 10"/>
          <p:cNvSpPr/>
          <p:nvPr/>
        </p:nvSpPr>
        <p:spPr>
          <a:xfrm>
            <a:off x="4526280" y="21488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3" name="Shape 11"/>
          <p:cNvSpPr/>
          <p:nvPr/>
        </p:nvSpPr>
        <p:spPr>
          <a:xfrm>
            <a:off x="4754880" y="2441448"/>
            <a:ext cx="320040" cy="0"/>
          </a:xfrm>
          <a:prstGeom prst="line">
            <a:avLst/>
          </a:prstGeom>
          <a:noFill/>
          <a:ln w="25400">
            <a:solidFill>
              <a:srgbClr val="B8863B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Text 12"/>
          <p:cNvSpPr/>
          <p:nvPr/>
        </p:nvSpPr>
        <p:spPr>
          <a:xfrm>
            <a:off x="4754880" y="25511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7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s-PE" sz="1700" noProof="0" dirty="0"/>
          </a:p>
        </p:txBody>
      </p:sp>
      <p:sp>
        <p:nvSpPr>
          <p:cNvPr id="15" name="Text 13"/>
          <p:cNvSpPr/>
          <p:nvPr/>
        </p:nvSpPr>
        <p:spPr>
          <a:xfrm>
            <a:off x="4754880" y="293522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1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central de los datos una vez ordenados de menor a mayor. Resistente a valores extremos.</a:t>
            </a:r>
            <a:endParaRPr lang="es-PE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7863840" y="21488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7" name="Shape 15"/>
          <p:cNvSpPr/>
          <p:nvPr/>
        </p:nvSpPr>
        <p:spPr>
          <a:xfrm>
            <a:off x="8092440" y="2441448"/>
            <a:ext cx="320040" cy="0"/>
          </a:xfrm>
          <a:prstGeom prst="line">
            <a:avLst/>
          </a:prstGeom>
          <a:noFill/>
          <a:ln w="25400">
            <a:solidFill>
              <a:srgbClr val="B8863B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8" name="Text 16"/>
          <p:cNvSpPr/>
          <p:nvPr/>
        </p:nvSpPr>
        <p:spPr>
          <a:xfrm>
            <a:off x="8092440" y="25511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7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s-PE" sz="1700" noProof="0" dirty="0"/>
          </a:p>
        </p:txBody>
      </p:sp>
      <p:sp>
        <p:nvSpPr>
          <p:cNvPr id="19" name="Text 17"/>
          <p:cNvSpPr/>
          <p:nvPr/>
        </p:nvSpPr>
        <p:spPr>
          <a:xfrm>
            <a:off x="8092440" y="293522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1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que se repite con más frecuencia. Es la más útil cuando los datos son categóricos.</a:t>
            </a:r>
            <a:endParaRPr lang="es-PE" sz="1150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0" y="4285085"/>
            <a:ext cx="9692640" cy="9144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PE" noProof="0" dirty="0"/>
          </a:p>
        </p:txBody>
      </p:sp>
      <p:sp>
        <p:nvSpPr>
          <p:cNvPr id="22" name="Text 20"/>
          <p:cNvSpPr/>
          <p:nvPr/>
        </p:nvSpPr>
        <p:spPr>
          <a:xfrm>
            <a:off x="1508760" y="4285085"/>
            <a:ext cx="9052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media y mediana difieren mucho, eso es información, no ruido: indica que la distribución está sesgada. No se trata de que “la mediana sea más correcta” — se trata de que cuál usar depende de qué se quiere describir con honestidad.</a:t>
            </a:r>
            <a:endParaRPr lang="es-PE" sz="1200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F8D64FF-418B-82B4-4E76-4D6898B67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188720" y="796391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TEORÍA DESBLOQUEADA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107287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separan? El sesgo</a:t>
            </a:r>
            <a:endParaRPr lang="es-PE" sz="2800" noProof="0" dirty="0"/>
          </a:p>
        </p:txBody>
      </p:sp>
      <p:pic>
        <p:nvPicPr>
          <p:cNvPr id="8" name="Image 0" descr="/home/claude/est2_deck/charts/skew_concept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6823"/>
            <a:ext cx="7040880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97549" y="1930247"/>
            <a:ext cx="3474720" cy="3840480"/>
          </a:xfrm>
          <a:prstGeom prst="roundRect">
            <a:avLst>
              <a:gd name="adj" fmla="val 1316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7"/>
          <p:cNvSpPr/>
          <p:nvPr/>
        </p:nvSpPr>
        <p:spPr>
          <a:xfrm>
            <a:off x="8226149" y="2158847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PE" sz="11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valores extremos (“colas largas”) en una sola dirección:</a:t>
            </a:r>
            <a:endParaRPr lang="es-PE" sz="1150" noProof="0" dirty="0"/>
          </a:p>
        </p:txBody>
      </p:sp>
      <p:sp>
        <p:nvSpPr>
          <p:cNvPr id="11" name="Text 8"/>
          <p:cNvSpPr/>
          <p:nvPr/>
        </p:nvSpPr>
        <p:spPr>
          <a:xfrm>
            <a:off x="8226149" y="2890367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PE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se corre hacia la cola — los extremos la “jalan”.</a:t>
            </a:r>
            <a:endParaRPr lang="es-PE" sz="1100" noProof="0" dirty="0"/>
          </a:p>
        </p:txBody>
      </p:sp>
      <p:sp>
        <p:nvSpPr>
          <p:cNvPr id="12" name="Text 9"/>
          <p:cNvSpPr/>
          <p:nvPr/>
        </p:nvSpPr>
        <p:spPr>
          <a:xfrm>
            <a:off x="8226149" y="3484727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PE" sz="1100" b="1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mediana se queda cerca de donde está “la mayoría” de los casos.</a:t>
            </a:r>
            <a:endParaRPr lang="es-PE" sz="1100" noProof="0" dirty="0"/>
          </a:p>
        </p:txBody>
      </p:sp>
      <p:sp>
        <p:nvSpPr>
          <p:cNvPr id="13" name="Shape 10"/>
          <p:cNvSpPr/>
          <p:nvPr/>
        </p:nvSpPr>
        <p:spPr>
          <a:xfrm>
            <a:off x="8226149" y="4170527"/>
            <a:ext cx="3017520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Text 11"/>
          <p:cNvSpPr/>
          <p:nvPr/>
        </p:nvSpPr>
        <p:spPr>
          <a:xfrm>
            <a:off x="8226149" y="4353407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s-PE" sz="1100" i="1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es exactamente como Lima empuja la población promedio por departamento muy por encima del departamento “típico”.</a:t>
            </a:r>
            <a:endParaRPr lang="es-PE" sz="11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4C7C52-3B1F-4CA1-2698-28A876F10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18872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kern="0" spc="30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s-PE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3090672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4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de Datos en Python </a:t>
            </a:r>
            <a:endParaRPr lang="es-PE" sz="4200" noProof="0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2DF9E99D-27DF-6393-844D-1BD9C2CA9438}"/>
              </a:ext>
            </a:extLst>
          </p:cNvPr>
          <p:cNvSpPr/>
          <p:nvPr/>
        </p:nvSpPr>
        <p:spPr>
          <a:xfrm>
            <a:off x="7784176" y="-2834640"/>
            <a:ext cx="5669280" cy="5669280"/>
          </a:xfrm>
          <a:prstGeom prst="ellipse">
            <a:avLst/>
          </a:prstGeom>
          <a:solidFill>
            <a:srgbClr val="2E4C7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BA4E4397-5FF4-DAB8-3A2A-B857D6AFB14B}"/>
              </a:ext>
            </a:extLst>
          </p:cNvPr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E4C7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188720" y="978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A · ATERRIZAJE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2893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3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.head()  ·  .</a:t>
            </a:r>
            <a:r>
              <a:rPr lang="es-PE" sz="30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r>
              <a:rPr lang="es-PE" sz="3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s-PE" sz="3000" noProof="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s-PE" sz="14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s-PE" sz="1400" noProof="0" dirty="0" err="1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PE" sz="14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tabla de observaciones (filas) y variables (columnas) — no es “la verdad absoluta”, es un registro de algo, que puede estar incompleto o tener errores.</a:t>
            </a:r>
            <a:endParaRPr lang="es-PE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1188720" y="3108960"/>
            <a:ext cx="4663440" cy="1371600"/>
          </a:xfrm>
          <a:prstGeom prst="roundRect">
            <a:avLst>
              <a:gd name="adj" fmla="val 3333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8"/>
          <p:cNvSpPr/>
          <p:nvPr/>
        </p:nvSpPr>
        <p:spPr>
          <a:xfrm>
            <a:off x="146304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60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.head()</a:t>
            </a:r>
            <a:endParaRPr lang="es-PE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463040" y="36850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PE" sz="11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las primeras filas. Es la primera mirada — ¿qué tipo de datos tengo entre manos?</a:t>
            </a:r>
            <a:endParaRPr lang="es-PE" sz="1150" noProof="0" dirty="0"/>
          </a:p>
        </p:txBody>
      </p:sp>
      <p:sp>
        <p:nvSpPr>
          <p:cNvPr id="12" name="Shape 10"/>
          <p:cNvSpPr/>
          <p:nvPr/>
        </p:nvSpPr>
        <p:spPr>
          <a:xfrm>
            <a:off x="6126480" y="3108960"/>
            <a:ext cx="4663440" cy="1371600"/>
          </a:xfrm>
          <a:prstGeom prst="roundRect">
            <a:avLst>
              <a:gd name="adj" fmla="val 3333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60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s-PE" sz="1600" b="1" noProof="0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r>
              <a:rPr lang="es-PE" sz="160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s-PE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0" y="36850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PE" sz="11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tipos de dato y valores no nulos por columna. Revela huecos antes de que arruinen un análisis.</a:t>
            </a:r>
            <a:endParaRPr lang="es-PE" sz="1150" noProof="0" dirty="0"/>
          </a:p>
        </p:txBody>
      </p:sp>
      <p:sp>
        <p:nvSpPr>
          <p:cNvPr id="15" name="Shape 13"/>
          <p:cNvSpPr/>
          <p:nvPr/>
        </p:nvSpPr>
        <p:spPr>
          <a:xfrm>
            <a:off x="1188720" y="4754880"/>
            <a:ext cx="9692640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PE" noProof="0" dirty="0"/>
          </a:p>
        </p:txBody>
      </p:sp>
      <p:sp>
        <p:nvSpPr>
          <p:cNvPr id="16" name="Text 14"/>
          <p:cNvSpPr/>
          <p:nvPr/>
        </p:nvSpPr>
        <p:spPr>
          <a:xfrm>
            <a:off x="1463040" y="491032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b="1" kern="0" spc="20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RECONOCIMIENTO, NO SINTAXIS</a:t>
            </a:r>
            <a:endParaRPr lang="es-PE" sz="105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166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PE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faltantes, tipos de datos raros o un número de filas inesperado — solo se detectan si se mira primero.</a:t>
            </a:r>
            <a:endParaRPr lang="es-PE" sz="1250" noProof="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854B9D-7EC5-3C5F-9F41-653C148B7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 Santa María de los Andes</a:t>
            </a:r>
            <a:endParaRPr lang="es-PE" sz="850" noProof="0" dirty="0"/>
          </a:p>
        </p:txBody>
      </p:sp>
      <p:sp>
        <p:nvSpPr>
          <p:cNvPr id="5" name="Text 3"/>
          <p:cNvSpPr/>
          <p:nvPr/>
        </p:nvSpPr>
        <p:spPr>
          <a:xfrm>
            <a:off x="7772400" y="65196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50" noProof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EST2 · Estadística Computacional</a:t>
            </a:r>
            <a:endParaRPr lang="es-PE" sz="850" noProof="0" dirty="0"/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50" noProof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B · RECONOCIMIENTO</a:t>
            </a:r>
            <a:endParaRPr lang="es-P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42646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PE" sz="2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.describe()  ·  media, mediana, desviación estándar</a:t>
            </a:r>
            <a:endParaRPr lang="es-PE" sz="2200" noProof="0" dirty="0"/>
          </a:p>
        </p:txBody>
      </p:sp>
      <p:pic>
        <p:nvPicPr>
          <p:cNvPr id="8" name="Image 0" descr="/home/claude/est2_deck/charts/hook_population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6720840" cy="35844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2412808"/>
            <a:ext cx="4160520" cy="2944368"/>
          </a:xfrm>
          <a:prstGeom prst="roundRect">
            <a:avLst>
              <a:gd name="adj" fmla="val 1276"/>
            </a:avLst>
          </a:prstGeom>
          <a:solidFill>
            <a:srgbClr val="F6F7FB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7"/>
          <p:cNvSpPr/>
          <p:nvPr/>
        </p:nvSpPr>
        <p:spPr>
          <a:xfrm>
            <a:off x="7680960" y="19556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s-PE" sz="1150" noProof="0" dirty="0"/>
          </a:p>
        </p:txBody>
      </p:sp>
      <p:sp>
        <p:nvSpPr>
          <p:cNvPr id="12" name="Text 9"/>
          <p:cNvSpPr/>
          <p:nvPr/>
        </p:nvSpPr>
        <p:spPr>
          <a:xfrm>
            <a:off x="7680960" y="254082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PE" sz="11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correr .describe() sobre el </a:t>
            </a:r>
            <a:r>
              <a:rPr lang="es-PE" sz="1100" noProof="0" dirty="0" err="1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PE" sz="110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población por departamento (INEI):</a:t>
            </a:r>
            <a:endParaRPr lang="es-PE" sz="1100" noProof="0" dirty="0"/>
          </a:p>
        </p:txBody>
      </p:sp>
      <p:sp>
        <p:nvSpPr>
          <p:cNvPr id="13" name="Text 10"/>
          <p:cNvSpPr/>
          <p:nvPr/>
        </p:nvSpPr>
        <p:spPr>
          <a:xfrm>
            <a:off x="7680960" y="30711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noProof="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endParaRPr lang="es-PE" sz="1150" noProof="0" dirty="0"/>
          </a:p>
        </p:txBody>
      </p:sp>
      <p:sp>
        <p:nvSpPr>
          <p:cNvPr id="14" name="Text 11"/>
          <p:cNvSpPr/>
          <p:nvPr/>
        </p:nvSpPr>
        <p:spPr>
          <a:xfrm>
            <a:off x="9326880" y="30711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5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1,175,275</a:t>
            </a:r>
            <a:endParaRPr lang="es-PE" sz="1150" noProof="0" dirty="0"/>
          </a:p>
        </p:txBody>
      </p:sp>
      <p:sp>
        <p:nvSpPr>
          <p:cNvPr id="15" name="Text 12"/>
          <p:cNvSpPr/>
          <p:nvPr/>
        </p:nvSpPr>
        <p:spPr>
          <a:xfrm>
            <a:off x="7680960" y="34095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noProof="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 (mediana)</a:t>
            </a:r>
            <a:endParaRPr lang="es-PE" sz="1150" noProof="0" dirty="0"/>
          </a:p>
        </p:txBody>
      </p:sp>
      <p:sp>
        <p:nvSpPr>
          <p:cNvPr id="16" name="Text 13"/>
          <p:cNvSpPr/>
          <p:nvPr/>
        </p:nvSpPr>
        <p:spPr>
          <a:xfrm>
            <a:off x="9326880" y="34095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5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850,765</a:t>
            </a:r>
            <a:endParaRPr lang="es-PE" sz="1150" noProof="0" dirty="0"/>
          </a:p>
        </p:txBody>
      </p:sp>
      <p:sp>
        <p:nvSpPr>
          <p:cNvPr id="17" name="Text 14"/>
          <p:cNvSpPr/>
          <p:nvPr/>
        </p:nvSpPr>
        <p:spPr>
          <a:xfrm>
            <a:off x="7680960" y="3747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noProof="0" dirty="0" err="1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endParaRPr lang="es-PE" sz="1150" noProof="0" dirty="0"/>
          </a:p>
        </p:txBody>
      </p:sp>
      <p:sp>
        <p:nvSpPr>
          <p:cNvPr id="18" name="Text 15"/>
          <p:cNvSpPr/>
          <p:nvPr/>
        </p:nvSpPr>
        <p:spPr>
          <a:xfrm>
            <a:off x="9326880" y="37478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5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1,799,928</a:t>
            </a:r>
            <a:endParaRPr lang="es-PE" sz="1150" noProof="0" dirty="0"/>
          </a:p>
        </p:txBody>
      </p:sp>
      <p:sp>
        <p:nvSpPr>
          <p:cNvPr id="19" name="Text 16"/>
          <p:cNvSpPr/>
          <p:nvPr/>
        </p:nvSpPr>
        <p:spPr>
          <a:xfrm>
            <a:off x="7680960" y="4086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noProof="0" dirty="0" err="1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s-PE" sz="1150" noProof="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(Lima)</a:t>
            </a:r>
            <a:endParaRPr lang="es-PE" sz="1150" noProof="0" dirty="0"/>
          </a:p>
        </p:txBody>
      </p:sp>
      <p:sp>
        <p:nvSpPr>
          <p:cNvPr id="20" name="Text 17"/>
          <p:cNvSpPr/>
          <p:nvPr/>
        </p:nvSpPr>
        <p:spPr>
          <a:xfrm>
            <a:off x="9326880" y="40861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5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9,485,405</a:t>
            </a:r>
            <a:endParaRPr lang="es-PE" sz="1150" noProof="0" dirty="0"/>
          </a:p>
        </p:txBody>
      </p:sp>
      <p:sp>
        <p:nvSpPr>
          <p:cNvPr id="21" name="Shape 18"/>
          <p:cNvSpPr/>
          <p:nvPr/>
        </p:nvSpPr>
        <p:spPr>
          <a:xfrm>
            <a:off x="7680960" y="4451920"/>
            <a:ext cx="3611880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2" name="Text 19"/>
          <p:cNvSpPr/>
          <p:nvPr/>
        </p:nvSpPr>
        <p:spPr>
          <a:xfrm>
            <a:off x="7680960" y="457079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PE" sz="1050" noProof="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población departamental está sesgada — Lima, ella sola, jala la media muy por encima de la mediana. Ese es el ejemplo real que paga la promesa de la apertura.</a:t>
            </a:r>
            <a:endParaRPr lang="es-PE" sz="1050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6051509-F339-7C36-2582-AA19F1BF7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4772" y="296778"/>
            <a:ext cx="1062166" cy="11004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1309</Words>
  <Application>Microsoft Office PowerPoint</Application>
  <PresentationFormat>Widescreen</PresentationFormat>
  <Paragraphs>200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Perez</cp:lastModifiedBy>
  <cp:revision>4</cp:revision>
  <dcterms:created xsi:type="dcterms:W3CDTF">2026-08-10T10:32:11Z</dcterms:created>
  <dcterms:modified xsi:type="dcterms:W3CDTF">2026-08-10T15:21:45Z</dcterms:modified>
</cp:coreProperties>
</file>