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735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64922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8872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118872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dos cosas realmente se mueven juntas — y cuándo solo lo parece?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7461CB-32BF-B525-93A8-800351D3E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050" y="365760"/>
            <a:ext cx="1135702" cy="1256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64922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origen de la felicidad?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ver cualquier número, hagamos una predicción.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88720" y="2788920"/>
            <a:ext cx="969264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se 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con la felicidad de un 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88720" y="3794760"/>
            <a:ext cx="9692640" cy="329184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7947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379476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 per cápita (riqueza económica)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188720" y="4197096"/>
            <a:ext cx="9692640" cy="329184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41970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1970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social (tener con quién contar)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188720" y="4599432"/>
            <a:ext cx="9692640" cy="329184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459943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59943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de vida saludable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188720" y="5001768"/>
            <a:ext cx="9692640" cy="329184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50017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0017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Libertad para tomar decisiones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188720" y="5404104"/>
            <a:ext cx="9692640" cy="329184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540410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540410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Generosidad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1188720" y="5806440"/>
            <a:ext cx="9692640" cy="329184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0" y="58064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58064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de corrupción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88720" y="62636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 orden — lo comprobaremos con datos reales más adelante.</a:t>
            </a:r>
            <a:endParaRPr lang="en-US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ED3F13E-B62C-C079-2C5E-40DEE4A51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050" y="365760"/>
            <a:ext cx="1135702" cy="1256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64922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3.1 · EL DIAGRAMA DE DISPERSIÓN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diagrama de dispersión?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88720" y="22402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es una observación. Lo que buscamos no es cada punto — es el patrón que forman todos juntos.</a:t>
            </a:r>
            <a:endParaRPr lang="en-US" sz="1650" dirty="0"/>
          </a:p>
        </p:txBody>
      </p:sp>
      <p:pic>
        <p:nvPicPr>
          <p:cNvPr id="9" name="Image 0" descr="/home/claude/est2_deck/charts/scatter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34640"/>
            <a:ext cx="10789920" cy="3063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9436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ascendente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279392" y="59436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descendente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72984" y="59436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sin patrón</a:t>
            </a:r>
            <a:endParaRPr lang="en-US" sz="13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4EB8E7-1F4D-6C80-08CC-9CC2AB836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050" y="365760"/>
            <a:ext cx="1135702" cy="1256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64922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3.1 · EL DIAGRAMA DE DISPERSIÓN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sintaxis del diagrama de dispersión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88720" y="2331720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más rápida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94760" y="2404872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df.plot.scatter(x='PBI per cápita', y='Puntaje')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2715768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dibuja el gráfico directo desde el DataFrame, columna contra columna.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88720" y="3264408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33558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matplotlib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33756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plt.scatter(df['PBI per cápita'], df['Puntaje'])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3648456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resultado, más control fino sobre el estilo del gráfico.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88720" y="4197096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los ejes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94760" y="4270248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plt.xlabel('PBI per cápita'); plt.ylabel('Puntaje')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94760" y="4581144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etiquetas, nadie (ni tú en dos semanas) sabe qué representa cada eje.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5129784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63040" y="522122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y mostrar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94760" y="5202936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plt.title('Riqueza vs. felicidad — 2019'); plt.show()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94760" y="5513832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.show() es lo que efectivamente dibuja el gráfico en pantalla.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33F93EB-AAC4-4570-FC82-2D601D556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050" y="365760"/>
            <a:ext cx="1135702" cy="1256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64922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3.2 · LA CORRELACIÓN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correlación?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88720" y="2148840"/>
            <a:ext cx="9692640" cy="960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entre -1 y 1 que resume qué tan fuerte y en qué dirección se mueven juntas dos variables.</a:t>
            </a:r>
            <a:endParaRPr lang="en-US" sz="1800" dirty="0"/>
          </a:p>
        </p:txBody>
      </p:sp>
      <p:pic>
        <p:nvPicPr>
          <p:cNvPr id="10" name="Image 0" descr="/home/claude/est2_deck/charts/correlation_str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10607040" cy="1691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50749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Dirección: signo (+ o -)   ·   Fuerza: qué tan cerca está de -1 o de 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188720" y="5486400"/>
            <a:ext cx="4709160" cy="777240"/>
          </a:xfrm>
          <a:prstGeom prst="roundRect">
            <a:avLst>
              <a:gd name="adj" fmla="val 58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17320" y="5486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mide relaciones LINEALES — una curva clara puede dar r ≈ 0.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80760" y="5486400"/>
            <a:ext cx="4800600" cy="777240"/>
          </a:xfrm>
          <a:prstGeom prst="roundRect">
            <a:avLst>
              <a:gd name="adj" fmla="val 5882"/>
            </a:avLst>
          </a:prstGeom>
          <a:solidFill>
            <a:srgbClr val="F6F7FB"/>
          </a:solidFill>
          <a:ln w="12700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09360" y="5486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no es causalidad — “van juntas” no es “una causa la otra.”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7E8101-BEB5-6192-5F63-B814946CA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050" y="365760"/>
            <a:ext cx="1135702" cy="1256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520" y="64922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3.2 · LA CORRELACIÓN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sintaxis de la correlación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188720" y="2286000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dos columnas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94760" y="2359152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df['PBI per cápita'].corr(df['Puntaje'])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2670048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solo número: la correlación de Pearson entre ambas variables.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88720" y="3218688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33101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completa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29184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df.corr(numeric_only=True)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3602736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correlación entre todas las columnas numéricas, de una vez.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88720" y="4151376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63040" y="42428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una variable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94760" y="4224528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df.corr(numeric_only=True)['Puntaje']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94760" y="4535424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la matriz para ver solo qué tan correlacionado está todo con 'Puntaje'.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5084064"/>
            <a:ext cx="9692640" cy="804672"/>
          </a:xfrm>
          <a:prstGeom prst="roundRect">
            <a:avLst>
              <a:gd name="adj" fmla="val 56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63040" y="51755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por fuerza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94760" y="5157216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df.corr(numeric_only=True)['Puntaje'].sort_values(ascending=False)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5468112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responde directamente la pregunta del ranking inicial.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0E683FD-B0BE-FE85-DBEF-A2A2D38C8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050" y="365760"/>
            <a:ext cx="1135702" cy="1256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572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Perez</cp:lastModifiedBy>
  <cp:revision>2</cp:revision>
  <dcterms:created xsi:type="dcterms:W3CDTF">2026-08-23T23:23:21Z</dcterms:created>
  <dcterms:modified xsi:type="dcterms:W3CDTF">2026-08-23T23:29:15Z</dcterms:modified>
</cp:coreProperties>
</file>