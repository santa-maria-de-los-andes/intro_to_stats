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6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E52A0-B055-499C-A8B1-07F8DB155A0B}" v="4" dt="2026-09-14T13:22:05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Perez" userId="ee5653104616ccd2" providerId="LiveId" clId="{A402F01B-10A2-4EE3-A297-A1DCFF1ADC8A}"/>
    <pc:docChg chg="undo custSel addSld delSld modSld sldOrd">
      <pc:chgData name="Jose Perez" userId="ee5653104616ccd2" providerId="LiveId" clId="{A402F01B-10A2-4EE3-A297-A1DCFF1ADC8A}" dt="2026-09-14T13:25:18.091" v="193" actId="22"/>
      <pc:docMkLst>
        <pc:docMk/>
      </pc:docMkLst>
      <pc:sldChg chg="addSp delSp modSp mod">
        <pc:chgData name="Jose Perez" userId="ee5653104616ccd2" providerId="LiveId" clId="{A402F01B-10A2-4EE3-A297-A1DCFF1ADC8A}" dt="2026-09-14T13:25:11.856" v="190" actId="478"/>
        <pc:sldMkLst>
          <pc:docMk/>
          <pc:sldMk cId="0" sldId="256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6"/>
            <ac:spMk id="7" creationId="{00000000-0000-0000-0000-000000000000}"/>
          </ac:spMkLst>
        </pc:spChg>
        <pc:picChg chg="add del">
          <ac:chgData name="Jose Perez" userId="ee5653104616ccd2" providerId="LiveId" clId="{A402F01B-10A2-4EE3-A297-A1DCFF1ADC8A}" dt="2026-09-14T13:25:11.856" v="190" actId="478"/>
          <ac:picMkLst>
            <pc:docMk/>
            <pc:sldMk cId="0" sldId="256"/>
            <ac:picMk id="3" creationId="{B4DB5597-27E2-D360-F26A-95D97DF62BFE}"/>
          </ac:picMkLst>
        </pc:picChg>
        <pc:picChg chg="add mod ord">
          <ac:chgData name="Jose Perez" userId="ee5653104616ccd2" providerId="LiveId" clId="{A402F01B-10A2-4EE3-A297-A1DCFF1ADC8A}" dt="2026-09-14T13:25:10.077" v="189" actId="167"/>
          <ac:picMkLst>
            <pc:docMk/>
            <pc:sldMk cId="0" sldId="256"/>
            <ac:picMk id="8" creationId="{2E11642E-00BA-277C-43B3-26DF41B537C2}"/>
          </ac:picMkLst>
        </pc:picChg>
      </pc:sldChg>
      <pc:sldChg chg="addSp modSp mod">
        <pc:chgData name="Jose Perez" userId="ee5653104616ccd2" providerId="LiveId" clId="{A402F01B-10A2-4EE3-A297-A1DCFF1ADC8A}" dt="2026-09-14T13:24:03.037" v="175" actId="1076"/>
        <pc:sldMkLst>
          <pc:docMk/>
          <pc:sldMk cId="0" sldId="258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8"/>
            <ac:spMk id="11" creationId="{00000000-0000-0000-0000-000000000000}"/>
          </ac:spMkLst>
        </pc:spChg>
        <pc:graphicFrameChg chg="modGraphic">
          <ac:chgData name="Jose Perez" userId="ee5653104616ccd2" providerId="LiveId" clId="{A402F01B-10A2-4EE3-A297-A1DCFF1ADC8A}" dt="2026-09-14T13:19:45.743" v="147" actId="790"/>
          <ac:graphicFrameMkLst>
            <pc:docMk/>
            <pc:sldMk cId="0" sldId="258"/>
            <ac:graphicFrameMk id="5" creationId="{00000000-0000-0000-0000-000000000000}"/>
          </ac:graphicFrameMkLst>
        </pc:graphicFrameChg>
        <pc:picChg chg="add mod">
          <ac:chgData name="Jose Perez" userId="ee5653104616ccd2" providerId="LiveId" clId="{A402F01B-10A2-4EE3-A297-A1DCFF1ADC8A}" dt="2026-09-14T13:24:03.037" v="175" actId="1076"/>
          <ac:picMkLst>
            <pc:docMk/>
            <pc:sldMk cId="0" sldId="258"/>
            <ac:picMk id="12" creationId="{5907E531-2E45-9B60-1D08-9BF67BD3EC4D}"/>
          </ac:picMkLst>
        </pc:picChg>
      </pc:sldChg>
      <pc:sldChg chg="addSp modSp mod">
        <pc:chgData name="Jose Perez" userId="ee5653104616ccd2" providerId="LiveId" clId="{A402F01B-10A2-4EE3-A297-A1DCFF1ADC8A}" dt="2026-09-14T13:24:05.890" v="176" actId="22"/>
        <pc:sldMkLst>
          <pc:docMk/>
          <pc:sldMk cId="0" sldId="259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59"/>
            <ac:spMk id="12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4:05.890" v="176" actId="22"/>
          <ac:picMkLst>
            <pc:docMk/>
            <pc:sldMk cId="0" sldId="259"/>
            <ac:picMk id="13" creationId="{CFEB0BC6-CFF8-2590-80A8-83CCD72A9235}"/>
          </ac:picMkLst>
        </pc:picChg>
      </pc:sldChg>
      <pc:sldChg chg="addSp modSp add del mod">
        <pc:chgData name="Jose Perez" userId="ee5653104616ccd2" providerId="LiveId" clId="{A402F01B-10A2-4EE3-A297-A1DCFF1ADC8A}" dt="2026-09-14T13:25:15.021" v="191" actId="22"/>
        <pc:sldMkLst>
          <pc:docMk/>
          <pc:sldMk cId="0" sldId="260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0"/>
            <ac:spMk id="4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5:15.021" v="191" actId="22"/>
          <ac:picMkLst>
            <pc:docMk/>
            <pc:sldMk cId="0" sldId="260"/>
            <ac:picMk id="5" creationId="{3D17DA11-A5D8-0F63-E254-D3392A6D9A2A}"/>
          </ac:picMkLst>
        </pc:picChg>
      </pc:sldChg>
      <pc:sldChg chg="addSp delSp modSp mod">
        <pc:chgData name="Jose Perez" userId="ee5653104616ccd2" providerId="LiveId" clId="{A402F01B-10A2-4EE3-A297-A1DCFF1ADC8A}" dt="2026-09-14T13:24:07.959" v="177" actId="22"/>
        <pc:sldMkLst>
          <pc:docMk/>
          <pc:sldMk cId="0" sldId="261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Jose Perez" userId="ee5653104616ccd2" providerId="LiveId" clId="{A402F01B-10A2-4EE3-A297-A1DCFF1ADC8A}" dt="2026-09-14T13:20:26.194" v="152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se Perez" userId="ee5653104616ccd2" providerId="LiveId" clId="{A402F01B-10A2-4EE3-A297-A1DCFF1ADC8A}" dt="2026-09-14T13:20:29.702" v="153" actId="1076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Jose Perez" userId="ee5653104616ccd2" providerId="LiveId" clId="{A402F01B-10A2-4EE3-A297-A1DCFF1ADC8A}" dt="2026-09-14T13:20:40.627" v="154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Jose Perez" userId="ee5653104616ccd2" providerId="LiveId" clId="{A402F01B-10A2-4EE3-A297-A1DCFF1ADC8A}" dt="2026-09-14T13:20:44.861" v="155" actId="478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Jose Perez" userId="ee5653104616ccd2" providerId="LiveId" clId="{A402F01B-10A2-4EE3-A297-A1DCFF1ADC8A}" dt="2026-09-14T13:20:44.861" v="155" actId="478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Jose Perez" userId="ee5653104616ccd2" providerId="LiveId" clId="{A402F01B-10A2-4EE3-A297-A1DCFF1ADC8A}" dt="2026-09-14T13:20:44.861" v="155" actId="478"/>
          <ac:spMkLst>
            <pc:docMk/>
            <pc:sldMk cId="0" sldId="261"/>
            <ac:spMk id="10" creationId="{00000000-0000-0000-0000-000000000000}"/>
          </ac:spMkLst>
        </pc:spChg>
        <pc:picChg chg="mod">
          <ac:chgData name="Jose Perez" userId="ee5653104616ccd2" providerId="LiveId" clId="{A402F01B-10A2-4EE3-A297-A1DCFF1ADC8A}" dt="2026-09-14T13:20:55.048" v="157" actId="1076"/>
          <ac:picMkLst>
            <pc:docMk/>
            <pc:sldMk cId="0" sldId="261"/>
            <ac:picMk id="6" creationId="{00000000-0000-0000-0000-000000000000}"/>
          </ac:picMkLst>
        </pc:picChg>
        <pc:picChg chg="add">
          <ac:chgData name="Jose Perez" userId="ee5653104616ccd2" providerId="LiveId" clId="{A402F01B-10A2-4EE3-A297-A1DCFF1ADC8A}" dt="2026-09-14T13:24:07.959" v="177" actId="22"/>
          <ac:picMkLst>
            <pc:docMk/>
            <pc:sldMk cId="0" sldId="261"/>
            <ac:picMk id="12" creationId="{2285B709-8307-0748-FB84-13A1CEC575A8}"/>
          </ac:picMkLst>
        </pc:picChg>
      </pc:sldChg>
      <pc:sldChg chg="addSp modSp mod ord">
        <pc:chgData name="Jose Perez" userId="ee5653104616ccd2" providerId="LiveId" clId="{A402F01B-10A2-4EE3-A297-A1DCFF1ADC8A}" dt="2026-09-14T13:24:14.360" v="179" actId="22"/>
        <pc:sldMkLst>
          <pc:docMk/>
          <pc:sldMk cId="0" sldId="262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9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2"/>
            <ac:spMk id="12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4:14.360" v="179" actId="22"/>
          <ac:picMkLst>
            <pc:docMk/>
            <pc:sldMk cId="0" sldId="262"/>
            <ac:picMk id="7" creationId="{78D59614-3896-D2B1-0089-FF499C51024A}"/>
          </ac:picMkLst>
        </pc:picChg>
      </pc:sldChg>
      <pc:sldChg chg="addSp modSp mod">
        <pc:chgData name="Jose Perez" userId="ee5653104616ccd2" providerId="LiveId" clId="{A402F01B-10A2-4EE3-A297-A1DCFF1ADC8A}" dt="2026-09-14T13:24:12.610" v="178" actId="22"/>
        <pc:sldMkLst>
          <pc:docMk/>
          <pc:sldMk cId="0" sldId="263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3"/>
            <ac:spMk id="17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4:12.610" v="178" actId="22"/>
          <ac:picMkLst>
            <pc:docMk/>
            <pc:sldMk cId="0" sldId="263"/>
            <ac:picMk id="18" creationId="{E355AE57-0A9D-8B7B-57F7-290FD29CD6B6}"/>
          </ac:picMkLst>
        </pc:picChg>
      </pc:sldChg>
      <pc:sldChg chg="addSp modSp mod">
        <pc:chgData name="Jose Perez" userId="ee5653104616ccd2" providerId="LiveId" clId="{A402F01B-10A2-4EE3-A297-A1DCFF1ADC8A}" dt="2026-09-14T13:24:16.474" v="180" actId="22"/>
        <pc:sldMkLst>
          <pc:docMk/>
          <pc:sldMk cId="0" sldId="264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ose Perez" userId="ee5653104616ccd2" providerId="LiveId" clId="{A402F01B-10A2-4EE3-A297-A1DCFF1ADC8A}" dt="2026-09-14T13:23:14.298" v="170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4"/>
            <ac:spMk id="19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4:16.474" v="180" actId="22"/>
          <ac:picMkLst>
            <pc:docMk/>
            <pc:sldMk cId="0" sldId="264"/>
            <ac:picMk id="21" creationId="{CE69DC14-F5FF-86C3-D611-2F4974B70882}"/>
          </ac:picMkLst>
        </pc:picChg>
      </pc:sldChg>
      <pc:sldChg chg="addSp modSp mod">
        <pc:chgData name="Jose Perez" userId="ee5653104616ccd2" providerId="LiveId" clId="{A402F01B-10A2-4EE3-A297-A1DCFF1ADC8A}" dt="2026-09-14T13:25:18.091" v="193" actId="22"/>
        <pc:sldMkLst>
          <pc:docMk/>
          <pc:sldMk cId="0" sldId="265"/>
        </pc:sldMkLst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5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6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7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0" sldId="265"/>
            <ac:spMk id="9" creationId="{00000000-0000-0000-0000-000000000000}"/>
          </ac:spMkLst>
        </pc:spChg>
        <pc:picChg chg="add">
          <ac:chgData name="Jose Perez" userId="ee5653104616ccd2" providerId="LiveId" clId="{A402F01B-10A2-4EE3-A297-A1DCFF1ADC8A}" dt="2026-09-14T13:25:18.091" v="193" actId="22"/>
          <ac:picMkLst>
            <pc:docMk/>
            <pc:sldMk cId="0" sldId="265"/>
            <ac:picMk id="11" creationId="{5B880843-F621-FD11-3354-E872453CE956}"/>
          </ac:picMkLst>
        </pc:picChg>
      </pc:sldChg>
      <pc:sldChg chg="add del setBg">
        <pc:chgData name="Jose Perez" userId="ee5653104616ccd2" providerId="LiveId" clId="{A402F01B-10A2-4EE3-A297-A1DCFF1ADC8A}" dt="2026-09-14T13:15:32.629" v="1" actId="2696"/>
        <pc:sldMkLst>
          <pc:docMk/>
          <pc:sldMk cId="853139449" sldId="266"/>
        </pc:sldMkLst>
      </pc:sldChg>
      <pc:sldChg chg="new del">
        <pc:chgData name="Jose Perez" userId="ee5653104616ccd2" providerId="LiveId" clId="{A402F01B-10A2-4EE3-A297-A1DCFF1ADC8A}" dt="2026-09-14T13:15:40.935" v="5" actId="2696"/>
        <pc:sldMkLst>
          <pc:docMk/>
          <pc:sldMk cId="3462228487" sldId="266"/>
        </pc:sldMkLst>
      </pc:sldChg>
      <pc:sldChg chg="addSp delSp modSp add mod">
        <pc:chgData name="Jose Perez" userId="ee5653104616ccd2" providerId="LiveId" clId="{A402F01B-10A2-4EE3-A297-A1DCFF1ADC8A}" dt="2026-09-14T13:25:15.971" v="192" actId="22"/>
        <pc:sldMkLst>
          <pc:docMk/>
          <pc:sldMk cId="3499042644" sldId="266"/>
        </pc:sldMkLst>
        <pc:spChg chg="del">
          <ac:chgData name="Jose Perez" userId="ee5653104616ccd2" providerId="LiveId" clId="{A402F01B-10A2-4EE3-A297-A1DCFF1ADC8A}" dt="2026-09-14T13:15:47.119" v="7" actId="478"/>
          <ac:spMkLst>
            <pc:docMk/>
            <pc:sldMk cId="3499042644" sldId="266"/>
            <ac:spMk id="3" creationId="{5E1EBB1A-1407-B972-ED07-46289F874E7C}"/>
          </ac:spMkLst>
        </pc:spChg>
        <pc:spChg chg="mod">
          <ac:chgData name="Jose Perez" userId="ee5653104616ccd2" providerId="LiveId" clId="{A402F01B-10A2-4EE3-A297-A1DCFF1ADC8A}" dt="2026-09-14T13:19:45.743" v="147" actId="790"/>
          <ac:spMkLst>
            <pc:docMk/>
            <pc:sldMk cId="3499042644" sldId="266"/>
            <ac:spMk id="4" creationId="{3AA604F2-D24C-8FA9-99F1-A69027704802}"/>
          </ac:spMkLst>
        </pc:spChg>
        <pc:spChg chg="add mod">
          <ac:chgData name="Jose Perez" userId="ee5653104616ccd2" providerId="LiveId" clId="{A402F01B-10A2-4EE3-A297-A1DCFF1ADC8A}" dt="2026-09-14T13:19:45.743" v="147" actId="790"/>
          <ac:spMkLst>
            <pc:docMk/>
            <pc:sldMk cId="3499042644" sldId="266"/>
            <ac:spMk id="5" creationId="{C821B81A-BC25-E408-6BBB-507E967A4340}"/>
          </ac:spMkLst>
        </pc:spChg>
        <pc:spChg chg="add mod">
          <ac:chgData name="Jose Perez" userId="ee5653104616ccd2" providerId="LiveId" clId="{A402F01B-10A2-4EE3-A297-A1DCFF1ADC8A}" dt="2026-09-14T13:19:56.624" v="151" actId="20577"/>
          <ac:spMkLst>
            <pc:docMk/>
            <pc:sldMk cId="3499042644" sldId="266"/>
            <ac:spMk id="7" creationId="{11A26CE1-FCD6-B047-1126-0E5BC9CB37F8}"/>
          </ac:spMkLst>
        </pc:spChg>
        <pc:picChg chg="add">
          <ac:chgData name="Jose Perez" userId="ee5653104616ccd2" providerId="LiveId" clId="{A402F01B-10A2-4EE3-A297-A1DCFF1ADC8A}" dt="2026-09-14T13:25:15.971" v="192" actId="22"/>
          <ac:picMkLst>
            <pc:docMk/>
            <pc:sldMk cId="3499042644" sldId="266"/>
            <ac:picMk id="9" creationId="{20C036FA-D89F-117D-D088-B65D4365B7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789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recordar el cliffhanger de Misión 2 (r ≈ 0.794 entre PBI per cápita y Puntaje de felicidad, calculado sobre los 156 países de 2019_es.csv). Hoy van a construir una herramienta que usa ese patrón para predecir — antes de que lo haga la máquina, lo hacen ustedes.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revelar todavía la fila de Perú. Dar 60-90 segundos en parejas, pedir 3-4 voluntarios que digan su número en voz alta y anotarlos en la pizarra. Nada de buscar el dato en el celular. Todos los valores de esta tabla vienen directo de 2019_es.csv.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la pregunta abierta — es la semilla del Concepto 2 (R²). No responderla todavía. El gráfico muestra los 156 países de 2019_es.csv en gris, con los 7 países del gancho resaltados en azul, y Finlandia/Japón marcados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el 5.697 real (fila 65 de 2019_es.csv, Perú) contra los números que dijeron los voluntarios en la pizarra.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173E-6F1E-01B9-2335-AA97B1AC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ED5C1-1E1E-8C8E-5EF3-6ADFB1B88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2BFF3-5880-7851-3C70-56505FBD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el 5.697 real (fila 65 de 2019_es.csv, Perú) contra los números que dijeron los voluntarios en la pizarra.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E1E1E-9680-13FA-37A0-30BBB3A8F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85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la que minimiza la distancia promedio a TODOS los puntos, no la que toca más puntos individuales. Recta calculada con sklearn LinearRegression sobre 2019_es.csv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random_state=42, test_size=0.10 sobre 2019_es.csv (156 países → 140 train / 16 test). Coeficientes y R² recalculables 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Japón vs. Finlandia: el patrón no es perfecto — ¿cómo le ponemos un número a qué tan bueno es? Los tres modelos son reales (sklearn sobre 2019_es.csv): solo Generosidad → R²=0.01; solo PBI per cápita → R²=0.63; las 6 variables → R²=0.78.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Coeficientes exactos (train, n=140): PBI per cápita = 0.766, Apoyo social = 1.161, intercepto = 1.798.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revelar el resultado de la extrapolación — la pregunta abierta entrega la clase al notebook. Catar (PBI 1.684) es el máximo real en 2019_es.csv.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kbik28fwsk?lang=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11642E-00BA-277C-43B3-26DF41B53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180" y="164592"/>
            <a:ext cx="884061" cy="978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kern="0" spc="2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 · REGRESIÓN LINEAL</a:t>
            </a:r>
            <a:endParaRPr lang="es-PE" sz="14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Duelo de Oráculos</a:t>
            </a:r>
            <a:endParaRPr lang="es-PE" sz="54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11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i="1" noProof="0" dirty="0">
                <a:solidFill>
                  <a:srgbClr val="F1E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vs. la Máquina</a:t>
            </a:r>
            <a:endParaRPr lang="es-PE" sz="2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0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 fórmula: adivina tú</a:t>
            </a:r>
            <a:endParaRPr lang="es-PE" sz="30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350" noProof="0" dirty="0">
                <a:solidFill>
                  <a:srgbClr val="5A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Misión 2 encontraron una correlación fuerte entre el PBI per cápita de un país y su Puntaje de felicidad (r ≈ 0.794, sobre los 156 países de 2019_es.csv). Con solo estos 7 países, prediga el Puntaje de Perú.</a:t>
            </a:r>
            <a:endParaRPr lang="es-PE" sz="135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126600"/>
              </p:ext>
            </p:extLst>
          </p:nvPr>
        </p:nvGraphicFramePr>
        <p:xfrm>
          <a:off x="548640" y="2121408"/>
          <a:ext cx="6858000" cy="30723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PE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PBI per cápita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de felicidad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Finlandia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1.340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7.769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Unidos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1.433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6.892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España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1.286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6.354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México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1.070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6.595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Chile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1.159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6.444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1.092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6.086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Japón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1.327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1300" noProof="0" dirty="0">
                          <a:solidFill>
                            <a:srgbClr val="22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5.886</a:t>
                      </a:r>
                      <a:endParaRPr lang="es-PE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1168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1B1F3B"/>
          </a:solidFill>
          <a:ln/>
          <a:effectLst>
            <a:outerShdw blurRad="88900" dist="254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kern="0" spc="2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</a:t>
            </a:r>
            <a:endParaRPr lang="es-PE" sz="14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noProof="0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 per cápita</a:t>
            </a:r>
            <a:endParaRPr lang="es-PE" sz="13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0358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</a:t>
            </a:r>
            <a:endParaRPr lang="es-PE" sz="40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noProof="0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 felicidad</a:t>
            </a:r>
            <a:endParaRPr lang="es-PE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069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4400" b="1" noProof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 ? </a:t>
            </a:r>
            <a:endParaRPr lang="es-PE" sz="44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07E531-2E45-9B60-1D08-9BF67BD3E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patrón no es perfecto: el caso Japón</a:t>
            </a:r>
            <a:endParaRPr lang="es-PE" sz="2800" noProof="0" dirty="0"/>
          </a:p>
        </p:txBody>
      </p:sp>
      <p:pic>
        <p:nvPicPr>
          <p:cNvPr id="4" name="Image 0" descr="/home/claude/charts/hoo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6858000" cy="4572000"/>
          </a:xfrm>
          <a:prstGeom prst="rect">
            <a:avLst/>
          </a:prstGeom>
          <a:effectLst>
            <a:outerShdw blurRad="88900" dist="25400" dir="5400000" algn="bl" rotWithShape="0">
              <a:srgbClr val="1B1F3B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589520" y="169164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  <a:effectLst>
            <a:outerShdw blurRad="88900" dist="25400" dir="5400000" algn="bl" rotWithShape="0">
              <a:srgbClr val="1B1F3B">
                <a:alpha val="10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828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Finlandia</a:t>
            </a:r>
            <a:endParaRPr lang="es-PE" sz="14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7627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800" b="1" noProof="0" dirty="0">
                <a:solidFill>
                  <a:srgbClr val="446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 1.340  →  Puntaje 7.769</a:t>
            </a:r>
            <a:endParaRPr lang="es-PE" sz="1800" noProof="0" dirty="0"/>
          </a:p>
        </p:txBody>
      </p:sp>
      <p:sp>
        <p:nvSpPr>
          <p:cNvPr id="8" name="Shape 5"/>
          <p:cNvSpPr/>
          <p:nvPr/>
        </p:nvSpPr>
        <p:spPr>
          <a:xfrm>
            <a:off x="7589520" y="324612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  <a:effectLst>
            <a:outerShdw blurRad="88900" dist="25400" dir="5400000" algn="bl" rotWithShape="0">
              <a:srgbClr val="1B1F3B">
                <a:alpha val="10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383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</a:t>
            </a:r>
            <a:endParaRPr lang="es-PE" sz="1400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7307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800" b="1" noProof="0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PBI 1.327  →  Puntaje 5.886</a:t>
            </a:r>
            <a:endParaRPr lang="es-PE" sz="1800" noProof="0" dirty="0"/>
          </a:p>
        </p:txBody>
      </p:sp>
      <p:sp>
        <p:nvSpPr>
          <p:cNvPr id="11" name="Shape 8"/>
          <p:cNvSpPr/>
          <p:nvPr/>
        </p:nvSpPr>
        <p:spPr>
          <a:xfrm>
            <a:off x="7589520" y="480060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/>
          <a:effectLst>
            <a:outerShdw blurRad="88900" dist="25400" dir="5400000" algn="bl" rotWithShape="0">
              <a:srgbClr val="1B1F3B">
                <a:alpha val="1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9377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3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 casi idéntico, pero un Puntaje casi 2 puntos más bajo.</a:t>
            </a:r>
            <a:endParaRPr lang="es-PE" sz="1300" noProof="0" dirty="0"/>
          </a:p>
          <a:p>
            <a:pPr marL="0" indent="0">
              <a:buNone/>
            </a:pPr>
            <a:r>
              <a:rPr lang="es-PE" sz="13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patrón no sirve, o el patrón no es perfecto?</a:t>
            </a:r>
            <a:endParaRPr lang="es-PE" sz="1300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EB0BC6-CFF8-2590-80A8-83CCD72A9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91440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Perú — Puntaje real</a:t>
            </a:r>
            <a:endParaRPr lang="es-PE" sz="32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803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0" b="1" noProof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5.697</a:t>
            </a:r>
            <a:endParaRPr lang="es-PE" sz="110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7DA11-A5D8-0F63-E254-D3392A6D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180" y="164592"/>
            <a:ext cx="884061" cy="978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CD2503-A3AB-B6C4-0F7D-F31D1F76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604F2-D24C-8FA9-99F1-A69027704802}"/>
              </a:ext>
            </a:extLst>
          </p:cNvPr>
          <p:cNvSpPr txBox="1"/>
          <p:nvPr/>
        </p:nvSpPr>
        <p:spPr>
          <a:xfrm>
            <a:off x="2438400" y="2560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0" b="1" noProof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</a:rPr>
              <a:t>y = mx + b</a:t>
            </a:r>
            <a:endParaRPr lang="es-PE" sz="11000" noProof="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821B81A-BC25-E408-6BBB-507E967A4340}"/>
              </a:ext>
            </a:extLst>
          </p:cNvPr>
          <p:cNvSpPr txBox="1"/>
          <p:nvPr/>
        </p:nvSpPr>
        <p:spPr>
          <a:xfrm>
            <a:off x="802256" y="6133381"/>
            <a:ext cx="1052423" cy="471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LINK</a:t>
            </a:r>
            <a:endParaRPr lang="es-PE" sz="3200" noProof="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1A26CE1-FCD6-B047-1126-0E5BC9CB37F8}"/>
              </a:ext>
            </a:extLst>
          </p:cNvPr>
          <p:cNvSpPr txBox="1"/>
          <p:nvPr/>
        </p:nvSpPr>
        <p:spPr>
          <a:xfrm>
            <a:off x="914400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matemática haciendo magia:</a:t>
            </a:r>
            <a:endParaRPr lang="es-PE" sz="3200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C036FA-D89F-117D-D088-B65D4365B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80" y="164592"/>
            <a:ext cx="884061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42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1E2A6"/>
          </a:solidFill>
          <a:ln/>
        </p:spPr>
        <p:txBody>
          <a:bodyPr/>
          <a:lstStyle/>
          <a:p>
            <a:endParaRPr lang="es-PE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4971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línea que “mejor le queda” a los puntos</a:t>
            </a:r>
            <a:endParaRPr lang="es-PE" sz="2600" noProof="0" dirty="0"/>
          </a:p>
        </p:txBody>
      </p:sp>
      <p:pic>
        <p:nvPicPr>
          <p:cNvPr id="6" name="Image 1" descr="/home/claude/charts/concept1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053" y="1230936"/>
            <a:ext cx="7737894" cy="5067384"/>
          </a:xfrm>
          <a:prstGeom prst="rect">
            <a:avLst/>
          </a:prstGeom>
          <a:effectLst>
            <a:outerShdw blurRad="88900" dist="25400" dir="5400000" algn="bl" rotWithShape="0">
              <a:srgbClr val="1B1F3B">
                <a:alpha val="12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85B709-8307-0748-FB84-13A1CEC575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1E2A6"/>
          </a:solidFill>
          <a:ln/>
        </p:spPr>
        <p:txBody>
          <a:bodyPr/>
          <a:lstStyle/>
          <a:p>
            <a:endParaRPr lang="es-PE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4651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5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separamos entrenamiento y prueba</a:t>
            </a:r>
            <a:endParaRPr lang="es-PE" sz="25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1F3B"/>
          </a:solidFill>
          <a:ln/>
          <a:effectLst>
            <a:outerShdw blurRad="88900" dist="254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508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 te diera el examen de mañana hoy, con las respuestas, y el día del examen te hiciera las mismas preguntas... ¿aprendiste, o solo memorizaste?”</a:t>
            </a:r>
            <a:endParaRPr lang="es-PE" sz="1450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9765323" cy="822960"/>
          </a:xfrm>
          <a:prstGeom prst="rect">
            <a:avLst/>
          </a:prstGeom>
          <a:solidFill>
            <a:srgbClr val="44608F"/>
          </a:solidFill>
          <a:ln/>
          <a:effectLst>
            <a:outerShdw blurRad="88900" dist="25400" dir="5400000" algn="bl" rotWithShape="0">
              <a:srgbClr val="1B1F3B">
                <a:alpha val="10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9" name="Shape 6"/>
          <p:cNvSpPr/>
          <p:nvPr/>
        </p:nvSpPr>
        <p:spPr>
          <a:xfrm>
            <a:off x="10313963" y="2606040"/>
            <a:ext cx="1116037" cy="822960"/>
          </a:xfrm>
          <a:prstGeom prst="rect">
            <a:avLst/>
          </a:prstGeom>
          <a:solidFill>
            <a:srgbClr val="D4AF37"/>
          </a:solidFill>
          <a:ln/>
          <a:effectLst>
            <a:outerShdw blurRad="88900" dist="25400" dir="5400000" algn="bl" rotWithShape="0">
              <a:srgbClr val="1B1F3B">
                <a:alpha val="10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06040"/>
            <a:ext cx="97653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140 países (90%)</a:t>
            </a:r>
            <a:endParaRPr lang="es-PE" sz="15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10313963" y="2606040"/>
            <a:ext cx="11160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0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s-PE" sz="1000" noProof="0" dirty="0"/>
          </a:p>
          <a:p>
            <a:pPr marL="0" indent="0" algn="ctr">
              <a:buNone/>
            </a:pPr>
            <a:r>
              <a:rPr lang="es-PE" sz="10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(10%)</a:t>
            </a:r>
            <a:endParaRPr lang="es-PE" sz="1000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611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</a:t>
            </a:r>
            <a:r>
              <a:rPr lang="es-PE" sz="130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de estos países.   </a:t>
            </a:r>
            <a:r>
              <a:rPr lang="es-PE" sz="1300" b="1" noProof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s-PE" sz="130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que el modelo nunca vio — aquí se mide si de verdad aprendió un patrón, o solo memorizó.</a:t>
            </a:r>
            <a:endParaRPr lang="es-PE" sz="1300" noProof="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10881360" cy="1874520"/>
          </a:xfrm>
          <a:prstGeom prst="roundRect">
            <a:avLst>
              <a:gd name="adj" fmla="val 4091"/>
            </a:avLst>
          </a:prstGeom>
          <a:solidFill>
            <a:srgbClr val="F4F5FB"/>
          </a:solidFill>
          <a:ln/>
          <a:effectLst>
            <a:outerShdw blurRad="88900" dist="25400" dir="5400000" algn="bl" rotWithShape="0">
              <a:srgbClr val="1B1F3B">
                <a:alpha val="14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Shape 11"/>
          <p:cNvSpPr/>
          <p:nvPr/>
        </p:nvSpPr>
        <p:spPr>
          <a:xfrm>
            <a:off x="804672" y="446227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0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s-PE" sz="2000" noProof="0" dirty="0"/>
          </a:p>
        </p:txBody>
      </p:sp>
      <p:sp>
        <p:nvSpPr>
          <p:cNvPr id="16" name="Text 13"/>
          <p:cNvSpPr txBox="1"/>
          <p:nvPr/>
        </p:nvSpPr>
        <p:spPr>
          <a:xfrm>
            <a:off x="1389888" y="4462272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que más confunde</a:t>
            </a:r>
            <a:endParaRPr lang="es-PE" sz="1450" noProof="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992624"/>
            <a:ext cx="103692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6 variables, el R² de ENTRENAMIENTO (140 países) es 0.78. Agregar variables casi siempre sube este número — eso no significa que el modelo mejoró de verdad.</a:t>
            </a:r>
            <a:endParaRPr lang="es-PE" sz="125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R² de PRUEBA (los 16 países que el modelo nunca vio) es 0.71 — más bajo. Esa caída es normal y es justo lo que hay que reportar: mide qué tanto generaliza, no cuánto memorizó.</a:t>
            </a:r>
            <a:endParaRPr lang="es-PE" sz="1250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55AE57-0A9D-8B7B-57F7-290FD29CD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1E2A6"/>
          </a:solidFill>
          <a:ln/>
        </p:spPr>
        <p:txBody>
          <a:bodyPr/>
          <a:lstStyle/>
          <a:p>
            <a:endParaRPr lang="es-PE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4846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5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R²: ¿qué tan bien explica la línea a los puntos?</a:t>
            </a:r>
            <a:endParaRPr lang="es-PE" sz="2500" noProof="0" dirty="0"/>
          </a:p>
        </p:txBody>
      </p:sp>
      <p:pic>
        <p:nvPicPr>
          <p:cNvPr id="6" name="Image 1" descr="/home/claude/charts/r2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45831"/>
            <a:ext cx="11064240" cy="3444014"/>
          </a:xfrm>
          <a:prstGeom prst="rect">
            <a:avLst/>
          </a:prstGeom>
          <a:effectLst>
            <a:outerShdw blurRad="88900" dist="25400" dir="5400000" algn="bl" rotWithShape="0">
              <a:srgbClr val="1B1F3B">
                <a:alpha val="1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5113743"/>
            <a:ext cx="11064240" cy="1287057"/>
          </a:xfrm>
          <a:prstGeom prst="roundRect">
            <a:avLst>
              <a:gd name="adj" fmla="val 8571"/>
            </a:avLst>
          </a:prstGeom>
          <a:solidFill>
            <a:srgbClr val="F4F5FB"/>
          </a:solidFill>
          <a:ln/>
          <a:effectLst>
            <a:outerShdw blurRad="88900" dist="25400" dir="5400000" algn="bl" rotWithShape="0">
              <a:srgbClr val="1B1F3B">
                <a:alpha val="14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9" name="Shape 5"/>
          <p:cNvSpPr/>
          <p:nvPr/>
        </p:nvSpPr>
        <p:spPr>
          <a:xfrm>
            <a:off x="804672" y="51960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519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0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s-PE" sz="2000" noProof="0" dirty="0"/>
          </a:p>
        </p:txBody>
      </p:sp>
      <p:sp>
        <p:nvSpPr>
          <p:cNvPr id="11" name="Text 7"/>
          <p:cNvSpPr txBox="1"/>
          <p:nvPr/>
        </p:nvSpPr>
        <p:spPr>
          <a:xfrm>
            <a:off x="1389888" y="5213815"/>
            <a:ext cx="9948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con el lenguaje (nunca lo digas así)</a:t>
            </a:r>
            <a:endParaRPr lang="es-PE" sz="1450" noProof="0" dirty="0"/>
          </a:p>
        </p:txBody>
      </p:sp>
      <p:sp>
        <p:nvSpPr>
          <p:cNvPr id="12" name="Text 8"/>
          <p:cNvSpPr txBox="1"/>
          <p:nvPr/>
        </p:nvSpPr>
        <p:spPr>
          <a:xfrm>
            <a:off x="819912" y="5738810"/>
            <a:ext cx="1055217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NO es “el % de predicciones correctas” ni “la precisión” del modelo — en regresión no hay aciertos/errores binarios.</a:t>
            </a:r>
            <a:endParaRPr lang="es-PE" sz="125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es qué tanto de la variación explica el modelo, no un puntaje de aciertos.</a:t>
            </a:r>
            <a:endParaRPr lang="es-PE" sz="125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D59614-3896-D2B1-0089-FF499C5102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1E2A6"/>
          </a:solidFill>
          <a:ln/>
        </p:spPr>
        <p:txBody>
          <a:bodyPr/>
          <a:lstStyle/>
          <a:p>
            <a:endParaRPr lang="es-PE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4</a:t>
            </a:r>
            <a:endParaRPr lang="es-PE" sz="12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7040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7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los coeficientes</a:t>
            </a:r>
            <a:endParaRPr lang="es-PE" sz="27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EEF1F9"/>
          </a:solidFill>
          <a:ln/>
          <a:effectLst>
            <a:outerShdw blurRad="889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 per cápita</a:t>
            </a:r>
            <a:endParaRPr lang="es-PE" sz="13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659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800" b="1" noProof="0" dirty="0">
                <a:solidFill>
                  <a:srgbClr val="4460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0.77</a:t>
            </a:r>
            <a:endParaRPr lang="es-PE" sz="3800" noProof="0" dirty="0"/>
          </a:p>
        </p:txBody>
      </p:sp>
      <p:sp>
        <p:nvSpPr>
          <p:cNvPr id="9" name="Shape 6"/>
          <p:cNvSpPr/>
          <p:nvPr/>
        </p:nvSpPr>
        <p:spPr>
          <a:xfrm>
            <a:off x="4069080" y="15087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EEF1F9"/>
          </a:solidFill>
          <a:ln/>
          <a:effectLst>
            <a:outerShdw blurRad="88900" dist="25400" dir="5400000" algn="bl" rotWithShape="0">
              <a:srgbClr val="1B1F3B">
                <a:alpha val="8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social</a:t>
            </a:r>
            <a:endParaRPr lang="es-PE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9659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800" b="1" noProof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1.16</a:t>
            </a:r>
            <a:endParaRPr lang="es-PE" sz="3800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16002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i="1" noProof="0" dirty="0">
                <a:solidFill>
                  <a:srgbClr val="5A5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reales del modelo de felicidad con las seis variables, entrenado sobre los mismos 140 países de la diapositiva anterior (van a recalcularlos en vivo en el notebook).</a:t>
            </a:r>
            <a:endParaRPr lang="es-PE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/>
          <a:effectLst>
            <a:outerShdw blurRad="88900" dist="25400" dir="5400000" algn="bl" rotWithShape="0">
              <a:srgbClr val="1B1F3B">
                <a:alpha val="15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200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“Por cada unidad adicional en (variable), la predicción de (resultado) cambia en  (coeficiente), manteniendo las demás variables constantes.”</a:t>
            </a:r>
            <a:endParaRPr lang="es-PE" sz="1400" noProof="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1536192"/>
          </a:xfrm>
          <a:prstGeom prst="roundRect">
            <a:avLst>
              <a:gd name="adj" fmla="val 4091"/>
            </a:avLst>
          </a:prstGeom>
          <a:solidFill>
            <a:srgbClr val="F4F5FB"/>
          </a:solidFill>
          <a:ln/>
          <a:effectLst>
            <a:outerShdw blurRad="88900" dist="25400" dir="5400000" algn="bl" rotWithShape="0">
              <a:srgbClr val="1B1F3B">
                <a:alpha val="14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16" name="Shape 13"/>
          <p:cNvSpPr/>
          <p:nvPr/>
        </p:nvSpPr>
        <p:spPr>
          <a:xfrm>
            <a:off x="804672" y="45537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PE" noProof="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000" b="1" noProof="0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s-PE" sz="2000" noProof="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4553712"/>
            <a:ext cx="9765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reglas no negociables</a:t>
            </a:r>
            <a:endParaRPr lang="es-PE" sz="1450" noProof="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5084064"/>
            <a:ext cx="103692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uses lenguaje causal: no es “el Apoyo social CAUSA que suba el Puntaje”, es “el modelo USA el Apoyo social para predecir el Puntaje”.</a:t>
            </a:r>
            <a:endParaRPr lang="es-PE" sz="1250" noProof="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s-PE" sz="1250" noProof="0" dirty="0">
                <a:solidFill>
                  <a:srgbClr val="22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coeficiente más grande no significa automáticamente “más importante”: las variables tienen escalas distintas. El coeficiente dice CÓMO el modelo usa esa variable, no un ranking de importancia.</a:t>
            </a:r>
            <a:endParaRPr lang="es-PE" sz="1250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69DC14-F5FF-86C3-D611-2F4974B70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80" y="164587"/>
            <a:ext cx="884066" cy="9784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68680"/>
            <a:ext cx="914400" cy="914400"/>
          </a:xfrm>
          <a:prstGeom prst="ellipse">
            <a:avLst/>
          </a:prstGeom>
          <a:solidFill>
            <a:srgbClr val="2A3060"/>
          </a:solidFill>
          <a:ln/>
          <a:effectLst>
            <a:outerShdw blurRad="88900" dist="25400" dir="5400000" algn="bl" rotWithShape="0">
              <a:srgbClr val="1B1F3B">
                <a:alpha val="25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069848"/>
            <a:ext cx="512064" cy="5120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00" b="1" kern="0" spc="2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— AL NOTEBOOK</a:t>
            </a:r>
            <a:endParaRPr lang="es-PE" sz="12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286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Ahora, a romper el oráculo</a:t>
            </a:r>
            <a:endParaRPr lang="es-PE" sz="34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2004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sz="1600" noProof="0" dirty="0">
                <a:solidFill>
                  <a:srgbClr val="EE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oráculo va a tener un R² de prueba decente. ¿Pero qué pasa si le piden predecir con un valor absurdamente fuera de lo que vio al entrenar — por ejemplo, un PBI diez veces más alto que Catar (1.684), el país más rico de los 156 en esta base de datos?</a:t>
            </a:r>
            <a:endParaRPr lang="es-PE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914400" y="4572000"/>
            <a:ext cx="9692640" cy="777240"/>
          </a:xfrm>
          <a:prstGeom prst="roundRect">
            <a:avLst>
              <a:gd name="adj" fmla="val 9412"/>
            </a:avLst>
          </a:prstGeom>
          <a:solidFill>
            <a:srgbClr val="D4AF37"/>
          </a:solidFill>
          <a:ln/>
          <a:effectLst>
            <a:outerShdw blurRad="88900" dist="25400" dir="5400000" algn="bl" rotWithShape="0">
              <a:srgbClr val="1B1F3B">
                <a:alpha val="20000"/>
              </a:srgbClr>
            </a:outerShdw>
          </a:effectLst>
        </p:spPr>
        <p:txBody>
          <a:bodyPr/>
          <a:lstStyle/>
          <a:p>
            <a:endParaRPr lang="es-PE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5720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600" b="1" noProof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Ábranlo en nb5_regresion.ipynb y averígüenlo ustedes mismos.</a:t>
            </a:r>
            <a:endParaRPr lang="es-PE" sz="1600" noProof="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623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i="1" noProof="0" dirty="0">
                <a:solidFill>
                  <a:srgbClr val="F1E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guiado: Felicidad  →  Ejercicios calificados: Altura de atletas olímpicos</a:t>
            </a:r>
            <a:endParaRPr lang="es-PE" sz="1300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880843-F621-FD11-3354-E872453CE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180" y="164592"/>
            <a:ext cx="884061" cy="978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1053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Perez</cp:lastModifiedBy>
  <cp:revision>2</cp:revision>
  <dcterms:created xsi:type="dcterms:W3CDTF">2026-09-14T00:44:13Z</dcterms:created>
  <dcterms:modified xsi:type="dcterms:W3CDTF">2026-09-14T13:25:26Z</dcterms:modified>
</cp:coreProperties>
</file>